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Roboto" panose="02000000000000000000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  <p:embeddedFont>
      <p:font typeface="微软雅黑" panose="020B0503020204020204" charset="-122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98"/>
        <p:guide pos="285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8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8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8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8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8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2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8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38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8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8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4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4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4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84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4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850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5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852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5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85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5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81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57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5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85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86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6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2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2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8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8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3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8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8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image" Target="../media/image2.png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FFF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"/>
          <p:cNvGrpSpPr/>
          <p:nvPr/>
        </p:nvGrpSpPr>
        <p:grpSpPr>
          <a:xfrm rot="0">
            <a:off x="-9469791" y="-2265730"/>
            <a:ext cx="37898208" cy="15129212"/>
            <a:chOff x="0" y="0"/>
            <a:chExt cx="50530944" cy="20172282"/>
          </a:xfrm>
        </p:grpSpPr>
        <p:sp>
          <p:nvSpPr>
            <p:cNvPr id="1048584" name="Freeform 3"/>
            <p:cNvSpPr/>
            <p:nvPr/>
          </p:nvSpPr>
          <p:spPr>
            <a:xfrm rot="687305">
              <a:off x="4325582" y="11104530"/>
              <a:ext cx="20716172" cy="7081164"/>
            </a:xfrm>
            <a:custGeom>
              <a:avLst/>
              <a:gdLst/>
              <a:ahLst/>
              <a:cxnLst/>
              <a:rect l="l" t="t" r="r" b="b"/>
              <a:pathLst>
                <a:path w="20716172" h="7081164">
                  <a:moveTo>
                    <a:pt x="0" y="0"/>
                  </a:moveTo>
                  <a:lnTo>
                    <a:pt x="20716172" y="0"/>
                  </a:lnTo>
                  <a:lnTo>
                    <a:pt x="20716172" y="7081164"/>
                  </a:lnTo>
                  <a:lnTo>
                    <a:pt x="0" y="7081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585" name="Freeform 4"/>
            <p:cNvSpPr/>
            <p:nvPr/>
          </p:nvSpPr>
          <p:spPr>
            <a:xfrm rot="687305">
              <a:off x="496833" y="10901319"/>
              <a:ext cx="20716172" cy="7081164"/>
            </a:xfrm>
            <a:custGeom>
              <a:avLst/>
              <a:gdLst/>
              <a:ahLst/>
              <a:cxnLst/>
              <a:rect l="l" t="t" r="r" b="b"/>
              <a:pathLst>
                <a:path w="20716172" h="7081164">
                  <a:moveTo>
                    <a:pt x="0" y="0"/>
                  </a:moveTo>
                  <a:lnTo>
                    <a:pt x="20716172" y="0"/>
                  </a:lnTo>
                  <a:lnTo>
                    <a:pt x="20716172" y="7081165"/>
                  </a:lnTo>
                  <a:lnTo>
                    <a:pt x="0" y="7081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586" name="Freeform 5"/>
            <p:cNvSpPr/>
            <p:nvPr/>
          </p:nvSpPr>
          <p:spPr>
            <a:xfrm rot="-10800000">
              <a:off x="23247311" y="503327"/>
              <a:ext cx="17680386" cy="6043477"/>
            </a:xfrm>
            <a:custGeom>
              <a:avLst/>
              <a:gdLst/>
              <a:ahLst/>
              <a:cxnLst/>
              <a:rect l="l" t="t" r="r" b="b"/>
              <a:pathLst>
                <a:path w="17680386" h="6043477">
                  <a:moveTo>
                    <a:pt x="0" y="0"/>
                  </a:moveTo>
                  <a:lnTo>
                    <a:pt x="17680386" y="0"/>
                  </a:lnTo>
                  <a:lnTo>
                    <a:pt x="17680386" y="6043478"/>
                  </a:lnTo>
                  <a:lnTo>
                    <a:pt x="0" y="6043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587" name="Freeform 6"/>
            <p:cNvSpPr/>
            <p:nvPr/>
          </p:nvSpPr>
          <p:spPr>
            <a:xfrm rot="-10428138">
              <a:off x="27195241" y="1217436"/>
              <a:ext cx="22978867" cy="7854595"/>
            </a:xfrm>
            <a:custGeom>
              <a:avLst/>
              <a:gdLst/>
              <a:ahLst/>
              <a:cxnLst/>
              <a:rect l="l" t="t" r="r" b="b"/>
              <a:pathLst>
                <a:path w="22978867" h="7854595">
                  <a:moveTo>
                    <a:pt x="0" y="0"/>
                  </a:moveTo>
                  <a:lnTo>
                    <a:pt x="22978867" y="0"/>
                  </a:lnTo>
                  <a:lnTo>
                    <a:pt x="22978867" y="7854595"/>
                  </a:lnTo>
                  <a:lnTo>
                    <a:pt x="0" y="7854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588" name="Freeform 7"/>
            <p:cNvSpPr/>
            <p:nvPr/>
          </p:nvSpPr>
          <p:spPr>
            <a:xfrm>
              <a:off x="11353780" y="9199482"/>
              <a:ext cx="3490722" cy="5486400"/>
            </a:xfrm>
            <a:custGeom>
              <a:avLst/>
              <a:gdLst/>
              <a:ahLst/>
              <a:cxnLst/>
              <a:rect l="l" t="t" r="r" b="b"/>
              <a:pathLst>
                <a:path w="3490722" h="5486400">
                  <a:moveTo>
                    <a:pt x="0" y="0"/>
                  </a:moveTo>
                  <a:lnTo>
                    <a:pt x="3490722" y="0"/>
                  </a:lnTo>
                  <a:lnTo>
                    <a:pt x="3490722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589" name="Freeform 8"/>
            <p:cNvSpPr/>
            <p:nvPr/>
          </p:nvSpPr>
          <p:spPr>
            <a:xfrm>
              <a:off x="34792326" y="5782395"/>
              <a:ext cx="2901206" cy="4559852"/>
            </a:xfrm>
            <a:custGeom>
              <a:avLst/>
              <a:gdLst/>
              <a:ahLst/>
              <a:cxnLst/>
              <a:rect l="l" t="t" r="r" b="b"/>
              <a:pathLst>
                <a:path w="2901206" h="4559852">
                  <a:moveTo>
                    <a:pt x="0" y="0"/>
                  </a:moveTo>
                  <a:lnTo>
                    <a:pt x="2901206" y="0"/>
                  </a:lnTo>
                  <a:lnTo>
                    <a:pt x="2901206" y="4559852"/>
                  </a:lnTo>
                  <a:lnTo>
                    <a:pt x="0" y="4559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590" name="Freeform 9"/>
            <p:cNvSpPr/>
            <p:nvPr/>
          </p:nvSpPr>
          <p:spPr>
            <a:xfrm>
              <a:off x="11353780" y="8394615"/>
              <a:ext cx="5607888" cy="8181721"/>
            </a:xfrm>
            <a:custGeom>
              <a:avLst/>
              <a:gdLst/>
              <a:ahLst/>
              <a:cxnLst/>
              <a:rect l="l" t="t" r="r" b="b"/>
              <a:pathLst>
                <a:path w="5607888" h="8181721">
                  <a:moveTo>
                    <a:pt x="0" y="0"/>
                  </a:moveTo>
                  <a:lnTo>
                    <a:pt x="5607888" y="0"/>
                  </a:lnTo>
                  <a:lnTo>
                    <a:pt x="5607888" y="8181721"/>
                  </a:lnTo>
                  <a:lnTo>
                    <a:pt x="0" y="818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048591" name="Freeform 10"/>
            <p:cNvSpPr/>
            <p:nvPr/>
          </p:nvSpPr>
          <p:spPr>
            <a:xfrm>
              <a:off x="31670557" y="503327"/>
              <a:ext cx="5607888" cy="8181721"/>
            </a:xfrm>
            <a:custGeom>
              <a:avLst/>
              <a:gdLst/>
              <a:ahLst/>
              <a:cxnLst/>
              <a:rect l="l" t="t" r="r" b="b"/>
              <a:pathLst>
                <a:path w="5607888" h="8181721">
                  <a:moveTo>
                    <a:pt x="0" y="0"/>
                  </a:moveTo>
                  <a:lnTo>
                    <a:pt x="5607888" y="0"/>
                  </a:lnTo>
                  <a:lnTo>
                    <a:pt x="5607888" y="8181721"/>
                  </a:lnTo>
                  <a:lnTo>
                    <a:pt x="0" y="818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048592" name="Freeform 11"/>
            <p:cNvSpPr/>
            <p:nvPr/>
          </p:nvSpPr>
          <p:spPr>
            <a:xfrm>
              <a:off x="10501629" y="295995"/>
              <a:ext cx="5971592" cy="5486400"/>
            </a:xfrm>
            <a:custGeom>
              <a:avLst/>
              <a:gdLst/>
              <a:ahLst/>
              <a:cxnLst/>
              <a:rect l="l" t="t" r="r" b="b"/>
              <a:pathLst>
                <a:path w="5971592" h="5486400">
                  <a:moveTo>
                    <a:pt x="0" y="0"/>
                  </a:moveTo>
                  <a:lnTo>
                    <a:pt x="5971592" y="0"/>
                  </a:lnTo>
                  <a:lnTo>
                    <a:pt x="5971592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593" name="Freeform 12"/>
            <p:cNvSpPr/>
            <p:nvPr/>
          </p:nvSpPr>
          <p:spPr>
            <a:xfrm>
              <a:off x="13845832" y="1682219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048594" name="Freeform 13"/>
            <p:cNvSpPr/>
            <p:nvPr/>
          </p:nvSpPr>
          <p:spPr>
            <a:xfrm>
              <a:off x="32286724" y="14685882"/>
              <a:ext cx="5971592" cy="5486400"/>
            </a:xfrm>
            <a:custGeom>
              <a:avLst/>
              <a:gdLst/>
              <a:ahLst/>
              <a:cxnLst/>
              <a:rect l="l" t="t" r="r" b="b"/>
              <a:pathLst>
                <a:path w="5971592" h="5486400">
                  <a:moveTo>
                    <a:pt x="0" y="0"/>
                  </a:moveTo>
                  <a:lnTo>
                    <a:pt x="5971591" y="0"/>
                  </a:lnTo>
                  <a:lnTo>
                    <a:pt x="5971591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595" name="Freeform 14"/>
            <p:cNvSpPr/>
            <p:nvPr/>
          </p:nvSpPr>
          <p:spPr>
            <a:xfrm rot="3934014">
              <a:off x="34565246" y="13638561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1"/>
                  </a:lnTo>
                  <a:lnTo>
                    <a:pt x="0" y="4556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48596" name="TextBox 15"/>
          <p:cNvSpPr txBox="1"/>
          <p:nvPr/>
        </p:nvSpPr>
        <p:spPr>
          <a:xfrm>
            <a:off x="2406496" y="3299841"/>
            <a:ext cx="13475008" cy="162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6335"/>
              </a:lnSpc>
            </a:pPr>
            <a:r>
              <a:rPr lang="en-US" altLang="zh-CN" sz="4800" b="1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1 Heavy" panose="020B0A00000000000000" charset="-122"/>
              </a:rPr>
              <a:t>ETL Process for Shopify Online Shopping Website</a:t>
            </a:r>
            <a:endParaRPr lang="en-US" altLang="zh-CN" sz="4800" b="1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1 Heavy" panose="020B0A00000000000000" charset="-122"/>
            </a:endParaRPr>
          </a:p>
        </p:txBody>
      </p:sp>
      <p:sp>
        <p:nvSpPr>
          <p:cNvPr id="1048597" name="TextBox 16"/>
          <p:cNvSpPr txBox="1"/>
          <p:nvPr/>
        </p:nvSpPr>
        <p:spPr>
          <a:xfrm>
            <a:off x="4544666" y="1569769"/>
            <a:ext cx="9198668" cy="191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7555"/>
              </a:lnSpc>
            </a:pPr>
            <a:r>
              <a:rPr lang="en-US" sz="5005" b="1">
                <a:solidFill>
                  <a:srgbClr val="96C2B6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TTT</a:t>
            </a:r>
            <a:r>
              <a:rPr lang="en-US" sz="5005" b="1">
                <a:solidFill>
                  <a:srgbClr val="96C2B6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C3213 Group Project</a:t>
            </a:r>
            <a:endParaRPr lang="en-US" sz="5005" b="1">
              <a:solidFill>
                <a:srgbClr val="96C2B6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  <a:p>
            <a:pPr algn="ctr">
              <a:lnSpc>
                <a:spcPts val="7555"/>
              </a:lnSpc>
            </a:pPr>
          </a:p>
        </p:txBody>
      </p:sp>
      <p:sp>
        <p:nvSpPr>
          <p:cNvPr id="1048598" name="TextBox 17"/>
          <p:cNvSpPr txBox="1"/>
          <p:nvPr/>
        </p:nvSpPr>
        <p:spPr>
          <a:xfrm>
            <a:off x="12169135" y="7570601"/>
            <a:ext cx="4350876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2720"/>
              </a:lnSpc>
            </a:pPr>
            <a:r>
              <a:rPr lang="en-US" sz="22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2 Medium" panose="020B0600000000000000" charset="-122"/>
                <a:sym typeface="思源黑体 2 Medium" panose="020B0600000000000000" charset="-122"/>
              </a:rPr>
              <a:t>Group member</a:t>
            </a:r>
            <a:endParaRPr lang="en-US" sz="226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思源黑体 2 Medium" panose="020B0600000000000000" charset="-122"/>
              <a:sym typeface="思源黑体 2 Medium" panose="020B0600000000000000" charset="-122"/>
            </a:endParaRPr>
          </a:p>
          <a:p>
            <a:pPr algn="l">
              <a:lnSpc>
                <a:spcPts val="2720"/>
              </a:lnSpc>
            </a:pPr>
            <a:r>
              <a:rPr lang="en-US" sz="22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2 Medium" panose="020B0600000000000000" charset="-122"/>
                <a:sym typeface="思源黑体 2 Medium" panose="020B0600000000000000" charset="-122"/>
              </a:rPr>
              <a:t>A204179 YANG HANGYU </a:t>
            </a:r>
            <a:endParaRPr lang="en-US" sz="226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思源黑体 2 Medium" panose="020B0600000000000000" charset="-122"/>
              <a:sym typeface="思源黑体 2 Medium" panose="020B0600000000000000" charset="-122"/>
            </a:endParaRPr>
          </a:p>
          <a:p>
            <a:pPr marL="0" lvl="0" indent="0" algn="l">
              <a:lnSpc>
                <a:spcPts val="2720"/>
              </a:lnSpc>
              <a:spcBef>
                <a:spcPct val="0"/>
              </a:spcBef>
            </a:pPr>
            <a:r>
              <a:rPr lang="en-US" sz="226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2 Medium" panose="020B0600000000000000" charset="-122"/>
                <a:sym typeface="思源黑体 2 Medium" panose="020B0600000000000000" charset="-122"/>
              </a:rPr>
              <a:t>A191702 YU YIFAN </a:t>
            </a:r>
            <a:endParaRPr lang="en-US" sz="226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思源黑体 2 Medium" panose="020B0600000000000000" charset="-122"/>
              <a:sym typeface="思源黑体 2 Medium" panose="020B0600000000000000" charset="-122"/>
            </a:endParaRPr>
          </a:p>
        </p:txBody>
      </p:sp>
      <p:sp>
        <p:nvSpPr>
          <p:cNvPr id="1048599" name="TextBox 18"/>
          <p:cNvSpPr txBox="1"/>
          <p:nvPr/>
        </p:nvSpPr>
        <p:spPr>
          <a:xfrm>
            <a:off x="4915948" y="5229986"/>
            <a:ext cx="8456105" cy="70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5530"/>
              </a:lnSpc>
            </a:pPr>
            <a:r>
              <a:rPr lang="en-US" sz="3545" b="1" spc="1087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GROUP 8</a:t>
            </a:r>
            <a:endParaRPr lang="en-US" sz="3545" b="1" spc="1087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"/>
          <p:cNvGrpSpPr/>
          <p:nvPr/>
        </p:nvGrpSpPr>
        <p:grpSpPr>
          <a:xfrm rot="0">
            <a:off x="-3730103" y="-2813278"/>
            <a:ext cx="9218727" cy="6768785"/>
            <a:chOff x="0" y="0"/>
            <a:chExt cx="12291637" cy="9025047"/>
          </a:xfrm>
        </p:grpSpPr>
        <p:sp>
          <p:nvSpPr>
            <p:cNvPr id="1048600" name="Freeform 3"/>
            <p:cNvSpPr/>
            <p:nvPr/>
          </p:nvSpPr>
          <p:spPr>
            <a:xfrm rot="9077007">
              <a:off x="1891864" y="2233752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6" y="0"/>
                  </a:lnTo>
                  <a:lnTo>
                    <a:pt x="10189646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01" name="Freeform 4"/>
            <p:cNvSpPr/>
            <p:nvPr/>
          </p:nvSpPr>
          <p:spPr>
            <a:xfrm rot="9077007">
              <a:off x="210127" y="3308289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5" y="0"/>
                  </a:lnTo>
                  <a:lnTo>
                    <a:pt x="10189645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02" name="Freeform 5"/>
            <p:cNvSpPr/>
            <p:nvPr/>
          </p:nvSpPr>
          <p:spPr>
            <a:xfrm rot="-10347187">
              <a:off x="4114981" y="5150856"/>
              <a:ext cx="1716978" cy="2698591"/>
            </a:xfrm>
            <a:custGeom>
              <a:avLst/>
              <a:gdLst/>
              <a:ahLst/>
              <a:cxnLst/>
              <a:rect l="l" t="t" r="r" b="b"/>
              <a:pathLst>
                <a:path w="1716978" h="2698591">
                  <a:moveTo>
                    <a:pt x="0" y="0"/>
                  </a:moveTo>
                  <a:lnTo>
                    <a:pt x="1716978" y="0"/>
                  </a:lnTo>
                  <a:lnTo>
                    <a:pt x="1716978" y="2698591"/>
                  </a:lnTo>
                  <a:lnTo>
                    <a:pt x="0" y="2698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03" name="Freeform 6"/>
            <p:cNvSpPr/>
            <p:nvPr/>
          </p:nvSpPr>
          <p:spPr>
            <a:xfrm rot="8389701">
              <a:off x="3133593" y="4006912"/>
              <a:ext cx="2848589" cy="4155996"/>
            </a:xfrm>
            <a:custGeom>
              <a:avLst/>
              <a:gdLst/>
              <a:ahLst/>
              <a:cxnLst/>
              <a:rect l="l" t="t" r="r" b="b"/>
              <a:pathLst>
                <a:path w="2848589" h="4155996">
                  <a:moveTo>
                    <a:pt x="0" y="0"/>
                  </a:moveTo>
                  <a:lnTo>
                    <a:pt x="2848589" y="0"/>
                  </a:lnTo>
                  <a:lnTo>
                    <a:pt x="2848589" y="4155996"/>
                  </a:lnTo>
                  <a:lnTo>
                    <a:pt x="0" y="4155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48604" name="TextBox 7"/>
          <p:cNvSpPr txBox="1"/>
          <p:nvPr/>
        </p:nvSpPr>
        <p:spPr>
          <a:xfrm>
            <a:off x="1818988" y="800100"/>
            <a:ext cx="10631784" cy="153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5995"/>
              </a:lnSpc>
            </a:pPr>
            <a:r>
              <a:rPr lang="en-US" sz="4995" b="1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1 Bold" panose="020B0800000000000000" charset="-122"/>
                <a:sym typeface="思源黑体 1 Bold" panose="020B0800000000000000" charset="-122"/>
              </a:rPr>
              <a:t>Project Goal &amp; </a:t>
            </a:r>
            <a:r>
              <a:rPr lang="en-US" sz="499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Introduction</a:t>
            </a:r>
            <a:endParaRPr lang="en-US" sz="499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  <a:p>
            <a:pPr algn="l">
              <a:lnSpc>
                <a:spcPts val="5995"/>
              </a:lnSpc>
            </a:pPr>
            <a:endParaRPr lang="en-US" sz="4995" b="1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grpSp>
        <p:nvGrpSpPr>
          <p:cNvPr id="28" name="Group 8"/>
          <p:cNvGrpSpPr/>
          <p:nvPr/>
        </p:nvGrpSpPr>
        <p:grpSpPr>
          <a:xfrm rot="0">
            <a:off x="10879974" y="7367432"/>
            <a:ext cx="9284255" cy="7286803"/>
            <a:chOff x="0" y="0"/>
            <a:chExt cx="12379006" cy="9715737"/>
          </a:xfrm>
        </p:grpSpPr>
        <p:sp>
          <p:nvSpPr>
            <p:cNvPr id="1048605" name="Freeform 9"/>
            <p:cNvSpPr/>
            <p:nvPr/>
          </p:nvSpPr>
          <p:spPr>
            <a:xfrm rot="-2423874">
              <a:off x="4181928" y="2341989"/>
              <a:ext cx="8266968" cy="2825800"/>
            </a:xfrm>
            <a:custGeom>
              <a:avLst/>
              <a:gdLst/>
              <a:ahLst/>
              <a:cxnLst/>
              <a:rect l="l" t="t" r="r" b="b"/>
              <a:pathLst>
                <a:path w="8266968" h="2825800">
                  <a:moveTo>
                    <a:pt x="0" y="0"/>
                  </a:moveTo>
                  <a:lnTo>
                    <a:pt x="8266968" y="0"/>
                  </a:lnTo>
                  <a:lnTo>
                    <a:pt x="8266968" y="2825800"/>
                  </a:lnTo>
                  <a:lnTo>
                    <a:pt x="0" y="282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06" name="Freeform 10"/>
            <p:cNvSpPr/>
            <p:nvPr/>
          </p:nvSpPr>
          <p:spPr>
            <a:xfrm rot="-2052013">
              <a:off x="103199" y="3340988"/>
              <a:ext cx="10744424" cy="3672640"/>
            </a:xfrm>
            <a:custGeom>
              <a:avLst/>
              <a:gdLst/>
              <a:ahLst/>
              <a:cxnLst/>
              <a:rect l="l" t="t" r="r" b="b"/>
              <a:pathLst>
                <a:path w="10744424" h="3672640">
                  <a:moveTo>
                    <a:pt x="0" y="0"/>
                  </a:moveTo>
                  <a:lnTo>
                    <a:pt x="10744425" y="0"/>
                  </a:lnTo>
                  <a:lnTo>
                    <a:pt x="10744425" y="3672640"/>
                  </a:lnTo>
                  <a:lnTo>
                    <a:pt x="0" y="36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07" name="Freeform 11"/>
            <p:cNvSpPr/>
            <p:nvPr/>
          </p:nvSpPr>
          <p:spPr>
            <a:xfrm rot="-1980880">
              <a:off x="9122963" y="1425375"/>
              <a:ext cx="1356542" cy="2132089"/>
            </a:xfrm>
            <a:custGeom>
              <a:avLst/>
              <a:gdLst/>
              <a:ahLst/>
              <a:cxnLst/>
              <a:rect l="l" t="t" r="r" b="b"/>
              <a:pathLst>
                <a:path w="1356542" h="2132089">
                  <a:moveTo>
                    <a:pt x="0" y="0"/>
                  </a:moveTo>
                  <a:lnTo>
                    <a:pt x="1356541" y="0"/>
                  </a:lnTo>
                  <a:lnTo>
                    <a:pt x="1356541" y="2132089"/>
                  </a:lnTo>
                  <a:lnTo>
                    <a:pt x="0" y="213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08" name="Freeform 12"/>
            <p:cNvSpPr/>
            <p:nvPr/>
          </p:nvSpPr>
          <p:spPr>
            <a:xfrm rot="8376125">
              <a:off x="6402473" y="1842091"/>
              <a:ext cx="2622128" cy="3825597"/>
            </a:xfrm>
            <a:custGeom>
              <a:avLst/>
              <a:gdLst/>
              <a:ahLst/>
              <a:cxnLst/>
              <a:rect l="l" t="t" r="r" b="b"/>
              <a:pathLst>
                <a:path w="2622128" h="3825597">
                  <a:moveTo>
                    <a:pt x="0" y="0"/>
                  </a:moveTo>
                  <a:lnTo>
                    <a:pt x="2622128" y="0"/>
                  </a:lnTo>
                  <a:lnTo>
                    <a:pt x="2622128" y="3825597"/>
                  </a:lnTo>
                  <a:lnTo>
                    <a:pt x="0" y="3825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29" name="Group 13"/>
          <p:cNvGrpSpPr/>
          <p:nvPr/>
        </p:nvGrpSpPr>
        <p:grpSpPr>
          <a:xfrm rot="0">
            <a:off x="16616573" y="-1328850"/>
            <a:ext cx="3547656" cy="3608717"/>
            <a:chOff x="0" y="0"/>
            <a:chExt cx="4730208" cy="4811622"/>
          </a:xfrm>
        </p:grpSpPr>
        <p:sp>
          <p:nvSpPr>
            <p:cNvPr id="1048609" name="Freeform 14"/>
            <p:cNvSpPr/>
            <p:nvPr/>
          </p:nvSpPr>
          <p:spPr>
            <a:xfrm>
              <a:off x="0" y="0"/>
              <a:ext cx="4730208" cy="4345879"/>
            </a:xfrm>
            <a:custGeom>
              <a:avLst/>
              <a:gdLst/>
              <a:ahLst/>
              <a:cxnLst/>
              <a:rect l="l" t="t" r="r" b="b"/>
              <a:pathLst>
                <a:path w="4730208" h="4345879">
                  <a:moveTo>
                    <a:pt x="0" y="0"/>
                  </a:moveTo>
                  <a:lnTo>
                    <a:pt x="4730208" y="0"/>
                  </a:lnTo>
                  <a:lnTo>
                    <a:pt x="4730208" y="4345879"/>
                  </a:lnTo>
                  <a:lnTo>
                    <a:pt x="0" y="4345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610" name="Freeform 15"/>
            <p:cNvSpPr/>
            <p:nvPr/>
          </p:nvSpPr>
          <p:spPr>
            <a:xfrm>
              <a:off x="1145988" y="25495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0" name="Group 16"/>
          <p:cNvGrpSpPr/>
          <p:nvPr/>
        </p:nvGrpSpPr>
        <p:grpSpPr>
          <a:xfrm rot="0">
            <a:off x="-1487826" y="8289427"/>
            <a:ext cx="3240139" cy="3750106"/>
            <a:chOff x="0" y="0"/>
            <a:chExt cx="4320185" cy="5000142"/>
          </a:xfrm>
        </p:grpSpPr>
        <p:sp>
          <p:nvSpPr>
            <p:cNvPr id="1048611" name="Freeform 17"/>
            <p:cNvSpPr/>
            <p:nvPr/>
          </p:nvSpPr>
          <p:spPr>
            <a:xfrm>
              <a:off x="283928" y="1291831"/>
              <a:ext cx="4036257" cy="3708311"/>
            </a:xfrm>
            <a:custGeom>
              <a:avLst/>
              <a:gdLst/>
              <a:ahLst/>
              <a:cxnLst/>
              <a:rect l="l" t="t" r="r" b="b"/>
              <a:pathLst>
                <a:path w="4036257" h="3708311">
                  <a:moveTo>
                    <a:pt x="0" y="0"/>
                  </a:moveTo>
                  <a:lnTo>
                    <a:pt x="4036257" y="0"/>
                  </a:lnTo>
                  <a:lnTo>
                    <a:pt x="4036257" y="3708311"/>
                  </a:lnTo>
                  <a:lnTo>
                    <a:pt x="0" y="370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612" name="Freeform 18"/>
            <p:cNvSpPr/>
            <p:nvPr/>
          </p:nvSpPr>
          <p:spPr>
            <a:xfrm>
              <a:off x="0" y="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8" y="0"/>
                  </a:lnTo>
                  <a:lnTo>
                    <a:pt x="3355368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1" name="Group 19"/>
          <p:cNvGrpSpPr/>
          <p:nvPr/>
        </p:nvGrpSpPr>
        <p:grpSpPr>
          <a:xfrm rot="0">
            <a:off x="10515600" y="4913630"/>
            <a:ext cx="5800725" cy="3801745"/>
            <a:chOff x="0" y="-19066"/>
            <a:chExt cx="1437452" cy="951946"/>
          </a:xfrm>
        </p:grpSpPr>
        <p:sp>
          <p:nvSpPr>
            <p:cNvPr id="1048613" name="Freeform 20"/>
            <p:cNvSpPr/>
            <p:nvPr/>
          </p:nvSpPr>
          <p:spPr>
            <a:xfrm>
              <a:off x="0" y="0"/>
              <a:ext cx="1437452" cy="932880"/>
            </a:xfrm>
            <a:custGeom>
              <a:avLst/>
              <a:gdLst/>
              <a:ahLst/>
              <a:cxnLst/>
              <a:rect l="l" t="t" r="r" b="b"/>
              <a:pathLst>
                <a:path w="1437523" h="1081500">
                  <a:moveTo>
                    <a:pt x="18440" y="0"/>
                  </a:moveTo>
                  <a:lnTo>
                    <a:pt x="1419084" y="0"/>
                  </a:lnTo>
                  <a:cubicBezTo>
                    <a:pt x="1423974" y="0"/>
                    <a:pt x="1428664" y="1943"/>
                    <a:pt x="1432122" y="5401"/>
                  </a:cubicBezTo>
                  <a:cubicBezTo>
                    <a:pt x="1435580" y="8859"/>
                    <a:pt x="1437523" y="13549"/>
                    <a:pt x="1437523" y="18440"/>
                  </a:cubicBezTo>
                  <a:lnTo>
                    <a:pt x="1437523" y="1063061"/>
                  </a:lnTo>
                  <a:cubicBezTo>
                    <a:pt x="1437523" y="1067951"/>
                    <a:pt x="1435580" y="1072641"/>
                    <a:pt x="1432122" y="1076099"/>
                  </a:cubicBezTo>
                  <a:cubicBezTo>
                    <a:pt x="1428664" y="1079557"/>
                    <a:pt x="1423974" y="1081500"/>
                    <a:pt x="1419084" y="1081500"/>
                  </a:cubicBezTo>
                  <a:lnTo>
                    <a:pt x="18440" y="1081500"/>
                  </a:lnTo>
                  <a:cubicBezTo>
                    <a:pt x="13549" y="1081500"/>
                    <a:pt x="8859" y="1079557"/>
                    <a:pt x="5401" y="1076099"/>
                  </a:cubicBezTo>
                  <a:cubicBezTo>
                    <a:pt x="1943" y="1072641"/>
                    <a:pt x="0" y="1067951"/>
                    <a:pt x="0" y="1063061"/>
                  </a:cubicBezTo>
                  <a:lnTo>
                    <a:pt x="0" y="18440"/>
                  </a:lnTo>
                  <a:cubicBezTo>
                    <a:pt x="0" y="13549"/>
                    <a:pt x="1943" y="8859"/>
                    <a:pt x="5401" y="5401"/>
                  </a:cubicBezTo>
                  <a:cubicBezTo>
                    <a:pt x="8859" y="1943"/>
                    <a:pt x="13549" y="0"/>
                    <a:pt x="18440" y="0"/>
                  </a:cubicBezTo>
                  <a:close/>
                </a:path>
              </a:pathLst>
            </a:custGeom>
            <a:solidFill>
              <a:srgbClr val="96C2B6"/>
            </a:solidFill>
          </p:spPr>
        </p:sp>
        <p:sp>
          <p:nvSpPr>
            <p:cNvPr id="1048614" name="TextBox 21"/>
            <p:cNvSpPr txBox="1"/>
            <p:nvPr/>
          </p:nvSpPr>
          <p:spPr>
            <a:xfrm>
              <a:off x="0" y="-19066"/>
              <a:ext cx="1437452" cy="88889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id="1048615" name="TextBox 22"/>
          <p:cNvSpPr txBox="1"/>
          <p:nvPr/>
        </p:nvSpPr>
        <p:spPr>
          <a:xfrm>
            <a:off x="10668212" y="5067205"/>
            <a:ext cx="5334278" cy="306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just">
              <a:lnSpc>
                <a:spcPts val="3980"/>
              </a:lnSpc>
              <a:spcBef>
                <a:spcPct val="0"/>
              </a:spcBef>
            </a:pPr>
            <a:r>
              <a:rPr lang="en-US" altLang="zh-CN" sz="2335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This project focuses on transforming unstructured or semi-structured web data into structured datasets that can be used for decision-making, price comparison, and basic market analysis.</a:t>
            </a:r>
            <a:endParaRPr lang="en-US" altLang="zh-CN" sz="233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616" name="TextBox 23"/>
          <p:cNvSpPr txBox="1"/>
          <p:nvPr/>
        </p:nvSpPr>
        <p:spPr>
          <a:xfrm>
            <a:off x="1295400" y="4686300"/>
            <a:ext cx="7261860" cy="4083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just">
              <a:lnSpc>
                <a:spcPts val="3980"/>
              </a:lnSpc>
              <a:spcBef>
                <a:spcPct val="0"/>
              </a:spcBef>
            </a:pPr>
            <a:r>
              <a:rPr lang="en-US" altLang="zh-CN" sz="237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The aim of this project is to perform a complete ETL (Extract, Transform, Load) process on an online shopping/business website and generate a simple but meaningful analysis report. Through this project, we demonstrate the ability to collect raw web data, clean and transform it into a usable format, and analyze the data using visual comparisons to support insights. </a:t>
            </a:r>
            <a:endParaRPr lang="en-US" altLang="zh-CN" sz="237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617" name="TextBox 24"/>
          <p:cNvSpPr txBox="1"/>
          <p:nvPr/>
        </p:nvSpPr>
        <p:spPr>
          <a:xfrm>
            <a:off x="3581400" y="3619500"/>
            <a:ext cx="2581275" cy="560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437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Introduction</a:t>
            </a:r>
            <a:endParaRPr 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048618" name="TextBox 25"/>
          <p:cNvSpPr txBox="1"/>
          <p:nvPr/>
        </p:nvSpPr>
        <p:spPr>
          <a:xfrm>
            <a:off x="12308754" y="3732273"/>
            <a:ext cx="2214126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437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Project Goal</a:t>
            </a:r>
            <a:endParaRPr 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2"/>
          <p:cNvGrpSpPr/>
          <p:nvPr/>
        </p:nvGrpSpPr>
        <p:grpSpPr>
          <a:xfrm rot="0">
            <a:off x="-3730103" y="-2813278"/>
            <a:ext cx="9218727" cy="6768785"/>
            <a:chOff x="0" y="0"/>
            <a:chExt cx="12291637" cy="9025047"/>
          </a:xfrm>
        </p:grpSpPr>
        <p:sp>
          <p:nvSpPr>
            <p:cNvPr id="1048619" name="Freeform 3"/>
            <p:cNvSpPr/>
            <p:nvPr/>
          </p:nvSpPr>
          <p:spPr>
            <a:xfrm rot="9077007">
              <a:off x="1891864" y="2233752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6" y="0"/>
                  </a:lnTo>
                  <a:lnTo>
                    <a:pt x="10189646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20" name="Freeform 4"/>
            <p:cNvSpPr/>
            <p:nvPr/>
          </p:nvSpPr>
          <p:spPr>
            <a:xfrm rot="9077007">
              <a:off x="210127" y="3308289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5" y="0"/>
                  </a:lnTo>
                  <a:lnTo>
                    <a:pt x="10189645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21" name="Freeform 5"/>
            <p:cNvSpPr/>
            <p:nvPr/>
          </p:nvSpPr>
          <p:spPr>
            <a:xfrm rot="-10347187">
              <a:off x="4114981" y="5150856"/>
              <a:ext cx="1716978" cy="2698591"/>
            </a:xfrm>
            <a:custGeom>
              <a:avLst/>
              <a:gdLst/>
              <a:ahLst/>
              <a:cxnLst/>
              <a:rect l="l" t="t" r="r" b="b"/>
              <a:pathLst>
                <a:path w="1716978" h="2698591">
                  <a:moveTo>
                    <a:pt x="0" y="0"/>
                  </a:moveTo>
                  <a:lnTo>
                    <a:pt x="1716978" y="0"/>
                  </a:lnTo>
                  <a:lnTo>
                    <a:pt x="1716978" y="2698591"/>
                  </a:lnTo>
                  <a:lnTo>
                    <a:pt x="0" y="2698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22" name="Freeform 6"/>
            <p:cNvSpPr/>
            <p:nvPr/>
          </p:nvSpPr>
          <p:spPr>
            <a:xfrm rot="8389701">
              <a:off x="3133593" y="4006912"/>
              <a:ext cx="2848589" cy="4155996"/>
            </a:xfrm>
            <a:custGeom>
              <a:avLst/>
              <a:gdLst/>
              <a:ahLst/>
              <a:cxnLst/>
              <a:rect l="l" t="t" r="r" b="b"/>
              <a:pathLst>
                <a:path w="2848589" h="4155996">
                  <a:moveTo>
                    <a:pt x="0" y="0"/>
                  </a:moveTo>
                  <a:lnTo>
                    <a:pt x="2848589" y="0"/>
                  </a:lnTo>
                  <a:lnTo>
                    <a:pt x="2848589" y="4155996"/>
                  </a:lnTo>
                  <a:lnTo>
                    <a:pt x="0" y="4155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34" name="Group 7"/>
          <p:cNvGrpSpPr/>
          <p:nvPr/>
        </p:nvGrpSpPr>
        <p:grpSpPr>
          <a:xfrm rot="0">
            <a:off x="10879974" y="7367432"/>
            <a:ext cx="9284255" cy="7286803"/>
            <a:chOff x="0" y="0"/>
            <a:chExt cx="12379006" cy="9715737"/>
          </a:xfrm>
        </p:grpSpPr>
        <p:sp>
          <p:nvSpPr>
            <p:cNvPr id="1048623" name="Freeform 8"/>
            <p:cNvSpPr/>
            <p:nvPr/>
          </p:nvSpPr>
          <p:spPr>
            <a:xfrm rot="-2423874">
              <a:off x="4181928" y="2341989"/>
              <a:ext cx="8266968" cy="2825800"/>
            </a:xfrm>
            <a:custGeom>
              <a:avLst/>
              <a:gdLst/>
              <a:ahLst/>
              <a:cxnLst/>
              <a:rect l="l" t="t" r="r" b="b"/>
              <a:pathLst>
                <a:path w="8266968" h="2825800">
                  <a:moveTo>
                    <a:pt x="0" y="0"/>
                  </a:moveTo>
                  <a:lnTo>
                    <a:pt x="8266968" y="0"/>
                  </a:lnTo>
                  <a:lnTo>
                    <a:pt x="8266968" y="2825800"/>
                  </a:lnTo>
                  <a:lnTo>
                    <a:pt x="0" y="282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24" name="Freeform 9"/>
            <p:cNvSpPr/>
            <p:nvPr/>
          </p:nvSpPr>
          <p:spPr>
            <a:xfrm rot="-2052013">
              <a:off x="103199" y="3340988"/>
              <a:ext cx="10744424" cy="3672640"/>
            </a:xfrm>
            <a:custGeom>
              <a:avLst/>
              <a:gdLst/>
              <a:ahLst/>
              <a:cxnLst/>
              <a:rect l="l" t="t" r="r" b="b"/>
              <a:pathLst>
                <a:path w="10744424" h="3672640">
                  <a:moveTo>
                    <a:pt x="0" y="0"/>
                  </a:moveTo>
                  <a:lnTo>
                    <a:pt x="10744425" y="0"/>
                  </a:lnTo>
                  <a:lnTo>
                    <a:pt x="10744425" y="3672640"/>
                  </a:lnTo>
                  <a:lnTo>
                    <a:pt x="0" y="36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25" name="Freeform 10"/>
            <p:cNvSpPr/>
            <p:nvPr/>
          </p:nvSpPr>
          <p:spPr>
            <a:xfrm rot="-1980880">
              <a:off x="9122963" y="1425375"/>
              <a:ext cx="1356542" cy="2132089"/>
            </a:xfrm>
            <a:custGeom>
              <a:avLst/>
              <a:gdLst/>
              <a:ahLst/>
              <a:cxnLst/>
              <a:rect l="l" t="t" r="r" b="b"/>
              <a:pathLst>
                <a:path w="1356542" h="2132089">
                  <a:moveTo>
                    <a:pt x="0" y="0"/>
                  </a:moveTo>
                  <a:lnTo>
                    <a:pt x="1356541" y="0"/>
                  </a:lnTo>
                  <a:lnTo>
                    <a:pt x="1356541" y="2132089"/>
                  </a:lnTo>
                  <a:lnTo>
                    <a:pt x="0" y="213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26" name="Freeform 11"/>
            <p:cNvSpPr/>
            <p:nvPr/>
          </p:nvSpPr>
          <p:spPr>
            <a:xfrm rot="8376125">
              <a:off x="6402473" y="1842091"/>
              <a:ext cx="2622128" cy="3825597"/>
            </a:xfrm>
            <a:custGeom>
              <a:avLst/>
              <a:gdLst/>
              <a:ahLst/>
              <a:cxnLst/>
              <a:rect l="l" t="t" r="r" b="b"/>
              <a:pathLst>
                <a:path w="2622128" h="3825597">
                  <a:moveTo>
                    <a:pt x="0" y="0"/>
                  </a:moveTo>
                  <a:lnTo>
                    <a:pt x="2622128" y="0"/>
                  </a:lnTo>
                  <a:lnTo>
                    <a:pt x="2622128" y="3825597"/>
                  </a:lnTo>
                  <a:lnTo>
                    <a:pt x="0" y="3825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35" name="Group 12"/>
          <p:cNvGrpSpPr/>
          <p:nvPr/>
        </p:nvGrpSpPr>
        <p:grpSpPr>
          <a:xfrm rot="0">
            <a:off x="16616573" y="-1328850"/>
            <a:ext cx="3547656" cy="3608717"/>
            <a:chOff x="0" y="0"/>
            <a:chExt cx="4730208" cy="4811622"/>
          </a:xfrm>
        </p:grpSpPr>
        <p:sp>
          <p:nvSpPr>
            <p:cNvPr id="1048627" name="Freeform 13"/>
            <p:cNvSpPr/>
            <p:nvPr/>
          </p:nvSpPr>
          <p:spPr>
            <a:xfrm>
              <a:off x="0" y="0"/>
              <a:ext cx="4730208" cy="4345879"/>
            </a:xfrm>
            <a:custGeom>
              <a:avLst/>
              <a:gdLst/>
              <a:ahLst/>
              <a:cxnLst/>
              <a:rect l="l" t="t" r="r" b="b"/>
              <a:pathLst>
                <a:path w="4730208" h="4345879">
                  <a:moveTo>
                    <a:pt x="0" y="0"/>
                  </a:moveTo>
                  <a:lnTo>
                    <a:pt x="4730208" y="0"/>
                  </a:lnTo>
                  <a:lnTo>
                    <a:pt x="4730208" y="4345879"/>
                  </a:lnTo>
                  <a:lnTo>
                    <a:pt x="0" y="4345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628" name="Freeform 14"/>
            <p:cNvSpPr/>
            <p:nvPr/>
          </p:nvSpPr>
          <p:spPr>
            <a:xfrm>
              <a:off x="1145988" y="25495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6" name="Group 15"/>
          <p:cNvGrpSpPr/>
          <p:nvPr/>
        </p:nvGrpSpPr>
        <p:grpSpPr>
          <a:xfrm rot="0">
            <a:off x="-1487826" y="8289427"/>
            <a:ext cx="3240139" cy="3750106"/>
            <a:chOff x="0" y="0"/>
            <a:chExt cx="4320185" cy="5000142"/>
          </a:xfrm>
        </p:grpSpPr>
        <p:sp>
          <p:nvSpPr>
            <p:cNvPr id="1048629" name="Freeform 16"/>
            <p:cNvSpPr/>
            <p:nvPr/>
          </p:nvSpPr>
          <p:spPr>
            <a:xfrm>
              <a:off x="283928" y="1291831"/>
              <a:ext cx="4036257" cy="3708311"/>
            </a:xfrm>
            <a:custGeom>
              <a:avLst/>
              <a:gdLst/>
              <a:ahLst/>
              <a:cxnLst/>
              <a:rect l="l" t="t" r="r" b="b"/>
              <a:pathLst>
                <a:path w="4036257" h="3708311">
                  <a:moveTo>
                    <a:pt x="0" y="0"/>
                  </a:moveTo>
                  <a:lnTo>
                    <a:pt x="4036257" y="0"/>
                  </a:lnTo>
                  <a:lnTo>
                    <a:pt x="4036257" y="3708311"/>
                  </a:lnTo>
                  <a:lnTo>
                    <a:pt x="0" y="370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630" name="Freeform 17"/>
            <p:cNvSpPr/>
            <p:nvPr/>
          </p:nvSpPr>
          <p:spPr>
            <a:xfrm>
              <a:off x="0" y="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8" y="0"/>
                  </a:lnTo>
                  <a:lnTo>
                    <a:pt x="3355368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7" name="Group 18"/>
          <p:cNvGrpSpPr/>
          <p:nvPr/>
        </p:nvGrpSpPr>
        <p:grpSpPr>
          <a:xfrm rot="0">
            <a:off x="11338647" y="2279867"/>
            <a:ext cx="857686" cy="857686"/>
            <a:chOff x="0" y="0"/>
            <a:chExt cx="812800" cy="812800"/>
          </a:xfrm>
        </p:grpSpPr>
        <p:sp>
          <p:nvSpPr>
            <p:cNvPr id="1048631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B597"/>
            </a:solidFill>
          </p:spPr>
        </p:sp>
        <p:sp>
          <p:nvSpPr>
            <p:cNvPr id="1048632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775"/>
                </a:lnSpc>
              </a:pPr>
            </a:p>
          </p:txBody>
        </p:sp>
      </p:grpSp>
      <p:grpSp>
        <p:nvGrpSpPr>
          <p:cNvPr id="38" name="Group 21"/>
          <p:cNvGrpSpPr/>
          <p:nvPr/>
        </p:nvGrpSpPr>
        <p:grpSpPr>
          <a:xfrm rot="0">
            <a:off x="11340484" y="6938589"/>
            <a:ext cx="857686" cy="857686"/>
            <a:chOff x="0" y="0"/>
            <a:chExt cx="812800" cy="812800"/>
          </a:xfrm>
        </p:grpSpPr>
        <p:sp>
          <p:nvSpPr>
            <p:cNvPr id="1048633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C2B6"/>
            </a:solidFill>
          </p:spPr>
        </p:sp>
        <p:sp>
          <p:nvSpPr>
            <p:cNvPr id="1048634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775"/>
                </a:lnSpc>
              </a:pPr>
            </a:p>
          </p:txBody>
        </p:sp>
      </p:grpSp>
      <p:sp>
        <p:nvSpPr>
          <p:cNvPr id="1048635" name="Freeform 24"/>
          <p:cNvSpPr/>
          <p:nvPr/>
        </p:nvSpPr>
        <p:spPr>
          <a:xfrm>
            <a:off x="1352296" y="2999582"/>
            <a:ext cx="9702438" cy="5675926"/>
          </a:xfrm>
          <a:custGeom>
            <a:avLst/>
            <a:gdLst/>
            <a:ahLst/>
            <a:cxnLst/>
            <a:rect l="l" t="t" r="r" b="b"/>
            <a:pathLst>
              <a:path w="9702438" h="5675926">
                <a:moveTo>
                  <a:pt x="0" y="0"/>
                </a:moveTo>
                <a:lnTo>
                  <a:pt x="9702438" y="0"/>
                </a:lnTo>
                <a:lnTo>
                  <a:pt x="9702438" y="5675926"/>
                </a:lnTo>
                <a:lnTo>
                  <a:pt x="0" y="567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48636" name="TextBox 25"/>
          <p:cNvSpPr txBox="1"/>
          <p:nvPr/>
        </p:nvSpPr>
        <p:spPr>
          <a:xfrm>
            <a:off x="1818988" y="800100"/>
            <a:ext cx="11954178" cy="76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5995"/>
              </a:lnSpc>
            </a:pPr>
            <a:r>
              <a:rPr lang="en-US" sz="4995" b="1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1 Bold" panose="020B0800000000000000" charset="-122"/>
                <a:sym typeface="思源黑体 1 Bold" panose="020B0800000000000000" charset="-122"/>
              </a:rPr>
              <a:t>Website Selection &amp; Data Attributes</a:t>
            </a:r>
            <a:endParaRPr lang="en-US" sz="4995" b="1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048637" name="TextBox 26"/>
          <p:cNvSpPr txBox="1"/>
          <p:nvPr/>
        </p:nvSpPr>
        <p:spPr>
          <a:xfrm>
            <a:off x="12480246" y="2913857"/>
            <a:ext cx="4638171" cy="183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The selected website is a publicly accessible English-based e-commerce platform that does not require user login. The data were collected for academic purposes and comply with ethical web scraping practices.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638" name="TextBox 27"/>
          <p:cNvSpPr txBox="1"/>
          <p:nvPr/>
        </p:nvSpPr>
        <p:spPr>
          <a:xfrm>
            <a:off x="12572956" y="2213827"/>
            <a:ext cx="3185818" cy="419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3275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Website Selection</a:t>
            </a:r>
            <a:endParaRPr lang="en-US"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048639" name="TextBox 28"/>
          <p:cNvSpPr txBox="1"/>
          <p:nvPr/>
        </p:nvSpPr>
        <p:spPr>
          <a:xfrm>
            <a:off x="12480246" y="7531618"/>
            <a:ext cx="5622279" cy="292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– Product Name: Identifies each product clearly for analysis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– Price: Main attribute for analysing pricing distribution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– Brand: Enables comparison between different manufacturers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– Stock Status: Indicates product availability and supply condition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640" name="TextBox 29"/>
          <p:cNvSpPr txBox="1"/>
          <p:nvPr/>
        </p:nvSpPr>
        <p:spPr>
          <a:xfrm>
            <a:off x="12432485" y="6741104"/>
            <a:ext cx="5394121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Extracted Data Attributes and Justification</a:t>
            </a:r>
            <a:endParaRPr lang="en-US" sz="2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048641" name="TextBox 30"/>
          <p:cNvSpPr txBox="1"/>
          <p:nvPr/>
        </p:nvSpPr>
        <p:spPr>
          <a:xfrm>
            <a:off x="11474266" y="2368163"/>
            <a:ext cx="586448" cy="570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ctr">
              <a:lnSpc>
                <a:spcPts val="4490"/>
              </a:lnSpc>
              <a:spcBef>
                <a:spcPct val="0"/>
              </a:spcBef>
            </a:pPr>
            <a:r>
              <a:rPr lang="en-US" sz="3745" b="1" u="none" strike="noStrike" spc="74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01</a:t>
            </a:r>
            <a:endParaRPr lang="en-US" sz="3745" b="1" u="none" strike="noStrike" spc="74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048642" name="TextBox 31"/>
          <p:cNvSpPr txBox="1"/>
          <p:nvPr/>
        </p:nvSpPr>
        <p:spPr>
          <a:xfrm>
            <a:off x="11476103" y="7014463"/>
            <a:ext cx="586448" cy="570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ctr">
              <a:lnSpc>
                <a:spcPts val="4490"/>
              </a:lnSpc>
              <a:spcBef>
                <a:spcPct val="0"/>
              </a:spcBef>
            </a:pPr>
            <a:r>
              <a:rPr lang="en-US" sz="3745" b="1" spc="74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03</a:t>
            </a:r>
            <a:endParaRPr lang="en-US" sz="3745" b="1" spc="74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grpSp>
        <p:nvGrpSpPr>
          <p:cNvPr id="39" name="Group 32"/>
          <p:cNvGrpSpPr/>
          <p:nvPr/>
        </p:nvGrpSpPr>
        <p:grpSpPr>
          <a:xfrm rot="0">
            <a:off x="11340484" y="5408702"/>
            <a:ext cx="857686" cy="857686"/>
            <a:chOff x="0" y="0"/>
            <a:chExt cx="812800" cy="812800"/>
          </a:xfrm>
        </p:grpSpPr>
        <p:sp>
          <p:nvSpPr>
            <p:cNvPr id="104864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B597"/>
            </a:solidFill>
          </p:spPr>
        </p:sp>
        <p:sp>
          <p:nvSpPr>
            <p:cNvPr id="104864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775"/>
                </a:lnSpc>
              </a:pPr>
            </a:p>
          </p:txBody>
        </p:sp>
      </p:grpSp>
      <p:sp>
        <p:nvSpPr>
          <p:cNvPr id="1048645" name="TextBox 35"/>
          <p:cNvSpPr txBox="1"/>
          <p:nvPr/>
        </p:nvSpPr>
        <p:spPr>
          <a:xfrm>
            <a:off x="11474266" y="5484576"/>
            <a:ext cx="586448" cy="570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ctr">
              <a:lnSpc>
                <a:spcPts val="4490"/>
              </a:lnSpc>
              <a:spcBef>
                <a:spcPct val="0"/>
              </a:spcBef>
            </a:pPr>
            <a:r>
              <a:rPr lang="en-US" sz="3745" b="1" u="none" strike="noStrike" spc="74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02</a:t>
            </a:r>
            <a:endParaRPr lang="en-US" sz="3745" b="1" u="none" strike="noStrike" spc="74">
              <a:solidFill>
                <a:srgbClr val="FFFFFF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048646" name="TextBox 36"/>
          <p:cNvSpPr txBox="1"/>
          <p:nvPr/>
        </p:nvSpPr>
        <p:spPr>
          <a:xfrm>
            <a:off x="12480246" y="5217972"/>
            <a:ext cx="1592909" cy="419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3275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Data Scope</a:t>
            </a:r>
            <a:endParaRPr lang="en-US"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048647" name="TextBox 37"/>
          <p:cNvSpPr txBox="1"/>
          <p:nvPr/>
        </p:nvSpPr>
        <p:spPr>
          <a:xfrm>
            <a:off x="12483920" y="5704151"/>
            <a:ext cx="4638171" cy="73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just">
              <a:lnSpc>
                <a:spcPts val="2855"/>
              </a:lnSpc>
              <a:spcBef>
                <a:spcPct val="0"/>
              </a:spcBef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More than 100 product records were collected to support reliable analysis.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2"/>
          <p:cNvGrpSpPr/>
          <p:nvPr/>
        </p:nvGrpSpPr>
        <p:grpSpPr>
          <a:xfrm rot="0">
            <a:off x="-3730103" y="-2813278"/>
            <a:ext cx="9218727" cy="6768785"/>
            <a:chOff x="0" y="0"/>
            <a:chExt cx="12291637" cy="9025047"/>
          </a:xfrm>
        </p:grpSpPr>
        <p:sp>
          <p:nvSpPr>
            <p:cNvPr id="1048648" name="Freeform 3"/>
            <p:cNvSpPr/>
            <p:nvPr/>
          </p:nvSpPr>
          <p:spPr>
            <a:xfrm rot="9077007">
              <a:off x="1891864" y="2233752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6" y="0"/>
                  </a:lnTo>
                  <a:lnTo>
                    <a:pt x="10189646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49" name="Freeform 4"/>
            <p:cNvSpPr/>
            <p:nvPr/>
          </p:nvSpPr>
          <p:spPr>
            <a:xfrm rot="9077007">
              <a:off x="210127" y="3308289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5" y="0"/>
                  </a:lnTo>
                  <a:lnTo>
                    <a:pt x="10189645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50" name="Freeform 5"/>
            <p:cNvSpPr/>
            <p:nvPr/>
          </p:nvSpPr>
          <p:spPr>
            <a:xfrm rot="-10347187">
              <a:off x="4114981" y="5150856"/>
              <a:ext cx="1716978" cy="2698591"/>
            </a:xfrm>
            <a:custGeom>
              <a:avLst/>
              <a:gdLst/>
              <a:ahLst/>
              <a:cxnLst/>
              <a:rect l="l" t="t" r="r" b="b"/>
              <a:pathLst>
                <a:path w="1716978" h="2698591">
                  <a:moveTo>
                    <a:pt x="0" y="0"/>
                  </a:moveTo>
                  <a:lnTo>
                    <a:pt x="1716978" y="0"/>
                  </a:lnTo>
                  <a:lnTo>
                    <a:pt x="1716978" y="2698591"/>
                  </a:lnTo>
                  <a:lnTo>
                    <a:pt x="0" y="2698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51" name="Freeform 6"/>
            <p:cNvSpPr/>
            <p:nvPr/>
          </p:nvSpPr>
          <p:spPr>
            <a:xfrm rot="8389701">
              <a:off x="3133593" y="4006912"/>
              <a:ext cx="2848589" cy="4155996"/>
            </a:xfrm>
            <a:custGeom>
              <a:avLst/>
              <a:gdLst/>
              <a:ahLst/>
              <a:cxnLst/>
              <a:rect l="l" t="t" r="r" b="b"/>
              <a:pathLst>
                <a:path w="2848589" h="4155996">
                  <a:moveTo>
                    <a:pt x="0" y="0"/>
                  </a:moveTo>
                  <a:lnTo>
                    <a:pt x="2848589" y="0"/>
                  </a:lnTo>
                  <a:lnTo>
                    <a:pt x="2848589" y="4155996"/>
                  </a:lnTo>
                  <a:lnTo>
                    <a:pt x="0" y="4155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48652" name="TextBox 7"/>
          <p:cNvSpPr txBox="1"/>
          <p:nvPr/>
        </p:nvSpPr>
        <p:spPr>
          <a:xfrm>
            <a:off x="1818988" y="800100"/>
            <a:ext cx="11772338" cy="76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5995"/>
              </a:lnSpc>
            </a:pPr>
            <a:r>
              <a:rPr lang="en-US" altLang="zh-CN" sz="499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ETL Concept</a:t>
            </a:r>
            <a:r>
              <a:rPr lang="en-US" sz="499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 &amp;  Overview</a:t>
            </a:r>
            <a:endParaRPr lang="en-US" sz="4995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grpSp>
        <p:nvGrpSpPr>
          <p:cNvPr id="42" name="Group 8"/>
          <p:cNvGrpSpPr/>
          <p:nvPr/>
        </p:nvGrpSpPr>
        <p:grpSpPr>
          <a:xfrm rot="0">
            <a:off x="10879974" y="7367432"/>
            <a:ext cx="9284255" cy="7286803"/>
            <a:chOff x="0" y="0"/>
            <a:chExt cx="12379006" cy="9715737"/>
          </a:xfrm>
        </p:grpSpPr>
        <p:sp>
          <p:nvSpPr>
            <p:cNvPr id="1048653" name="Freeform 9"/>
            <p:cNvSpPr/>
            <p:nvPr/>
          </p:nvSpPr>
          <p:spPr>
            <a:xfrm rot="-2423874">
              <a:off x="4181928" y="2341989"/>
              <a:ext cx="8266968" cy="2825800"/>
            </a:xfrm>
            <a:custGeom>
              <a:avLst/>
              <a:gdLst/>
              <a:ahLst/>
              <a:cxnLst/>
              <a:rect l="l" t="t" r="r" b="b"/>
              <a:pathLst>
                <a:path w="8266968" h="2825800">
                  <a:moveTo>
                    <a:pt x="0" y="0"/>
                  </a:moveTo>
                  <a:lnTo>
                    <a:pt x="8266968" y="0"/>
                  </a:lnTo>
                  <a:lnTo>
                    <a:pt x="8266968" y="2825800"/>
                  </a:lnTo>
                  <a:lnTo>
                    <a:pt x="0" y="282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54" name="Freeform 10"/>
            <p:cNvSpPr/>
            <p:nvPr/>
          </p:nvSpPr>
          <p:spPr>
            <a:xfrm rot="-2052013">
              <a:off x="103199" y="3340988"/>
              <a:ext cx="10744424" cy="3672640"/>
            </a:xfrm>
            <a:custGeom>
              <a:avLst/>
              <a:gdLst/>
              <a:ahLst/>
              <a:cxnLst/>
              <a:rect l="l" t="t" r="r" b="b"/>
              <a:pathLst>
                <a:path w="10744424" h="3672640">
                  <a:moveTo>
                    <a:pt x="0" y="0"/>
                  </a:moveTo>
                  <a:lnTo>
                    <a:pt x="10744425" y="0"/>
                  </a:lnTo>
                  <a:lnTo>
                    <a:pt x="10744425" y="3672640"/>
                  </a:lnTo>
                  <a:lnTo>
                    <a:pt x="0" y="36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55" name="Freeform 11"/>
            <p:cNvSpPr/>
            <p:nvPr/>
          </p:nvSpPr>
          <p:spPr>
            <a:xfrm rot="-1980880">
              <a:off x="9122963" y="1425375"/>
              <a:ext cx="1356542" cy="2132089"/>
            </a:xfrm>
            <a:custGeom>
              <a:avLst/>
              <a:gdLst/>
              <a:ahLst/>
              <a:cxnLst/>
              <a:rect l="l" t="t" r="r" b="b"/>
              <a:pathLst>
                <a:path w="1356542" h="2132089">
                  <a:moveTo>
                    <a:pt x="0" y="0"/>
                  </a:moveTo>
                  <a:lnTo>
                    <a:pt x="1356541" y="0"/>
                  </a:lnTo>
                  <a:lnTo>
                    <a:pt x="1356541" y="2132089"/>
                  </a:lnTo>
                  <a:lnTo>
                    <a:pt x="0" y="213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56" name="Freeform 12"/>
            <p:cNvSpPr/>
            <p:nvPr/>
          </p:nvSpPr>
          <p:spPr>
            <a:xfrm rot="8376125">
              <a:off x="6402473" y="1842091"/>
              <a:ext cx="2622128" cy="3825597"/>
            </a:xfrm>
            <a:custGeom>
              <a:avLst/>
              <a:gdLst/>
              <a:ahLst/>
              <a:cxnLst/>
              <a:rect l="l" t="t" r="r" b="b"/>
              <a:pathLst>
                <a:path w="2622128" h="3825597">
                  <a:moveTo>
                    <a:pt x="0" y="0"/>
                  </a:moveTo>
                  <a:lnTo>
                    <a:pt x="2622128" y="0"/>
                  </a:lnTo>
                  <a:lnTo>
                    <a:pt x="2622128" y="3825597"/>
                  </a:lnTo>
                  <a:lnTo>
                    <a:pt x="0" y="3825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3" name="Group 13"/>
          <p:cNvGrpSpPr/>
          <p:nvPr/>
        </p:nvGrpSpPr>
        <p:grpSpPr>
          <a:xfrm rot="0">
            <a:off x="16616573" y="-1328850"/>
            <a:ext cx="3547656" cy="3608717"/>
            <a:chOff x="0" y="0"/>
            <a:chExt cx="4730208" cy="4811622"/>
          </a:xfrm>
        </p:grpSpPr>
        <p:sp>
          <p:nvSpPr>
            <p:cNvPr id="1048657" name="Freeform 14"/>
            <p:cNvSpPr/>
            <p:nvPr/>
          </p:nvSpPr>
          <p:spPr>
            <a:xfrm>
              <a:off x="0" y="0"/>
              <a:ext cx="4730208" cy="4345879"/>
            </a:xfrm>
            <a:custGeom>
              <a:avLst/>
              <a:gdLst/>
              <a:ahLst/>
              <a:cxnLst/>
              <a:rect l="l" t="t" r="r" b="b"/>
              <a:pathLst>
                <a:path w="4730208" h="4345879">
                  <a:moveTo>
                    <a:pt x="0" y="0"/>
                  </a:moveTo>
                  <a:lnTo>
                    <a:pt x="4730208" y="0"/>
                  </a:lnTo>
                  <a:lnTo>
                    <a:pt x="4730208" y="4345879"/>
                  </a:lnTo>
                  <a:lnTo>
                    <a:pt x="0" y="4345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658" name="Freeform 15"/>
            <p:cNvSpPr/>
            <p:nvPr/>
          </p:nvSpPr>
          <p:spPr>
            <a:xfrm>
              <a:off x="1145988" y="25495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4" name="Group 16"/>
          <p:cNvGrpSpPr/>
          <p:nvPr/>
        </p:nvGrpSpPr>
        <p:grpSpPr>
          <a:xfrm rot="0">
            <a:off x="1465082" y="6624255"/>
            <a:ext cx="2443899" cy="2443899"/>
            <a:chOff x="0" y="0"/>
            <a:chExt cx="812800" cy="812800"/>
          </a:xfrm>
        </p:grpSpPr>
        <p:sp>
          <p:nvSpPr>
            <p:cNvPr id="1048659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6C2B6"/>
            </a:solidFill>
            <a:ln cap="sq">
              <a:noFill/>
              <a:prstDash val="solid"/>
              <a:miter/>
            </a:ln>
          </p:spPr>
        </p:sp>
        <p:sp>
          <p:nvSpPr>
            <p:cNvPr id="1048660" name="TextBox 18"/>
            <p:cNvSpPr txBox="1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5" name="Group 19"/>
          <p:cNvGrpSpPr/>
          <p:nvPr/>
        </p:nvGrpSpPr>
        <p:grpSpPr>
          <a:xfrm rot="0">
            <a:off x="-1487826" y="8289427"/>
            <a:ext cx="3240139" cy="3750106"/>
            <a:chOff x="0" y="0"/>
            <a:chExt cx="4320185" cy="5000142"/>
          </a:xfrm>
        </p:grpSpPr>
        <p:sp>
          <p:nvSpPr>
            <p:cNvPr id="1048661" name="Freeform 20"/>
            <p:cNvSpPr/>
            <p:nvPr/>
          </p:nvSpPr>
          <p:spPr>
            <a:xfrm>
              <a:off x="283928" y="1291831"/>
              <a:ext cx="4036257" cy="3708311"/>
            </a:xfrm>
            <a:custGeom>
              <a:avLst/>
              <a:gdLst/>
              <a:ahLst/>
              <a:cxnLst/>
              <a:rect l="l" t="t" r="r" b="b"/>
              <a:pathLst>
                <a:path w="4036257" h="3708311">
                  <a:moveTo>
                    <a:pt x="0" y="0"/>
                  </a:moveTo>
                  <a:lnTo>
                    <a:pt x="4036257" y="0"/>
                  </a:lnTo>
                  <a:lnTo>
                    <a:pt x="4036257" y="3708311"/>
                  </a:lnTo>
                  <a:lnTo>
                    <a:pt x="0" y="370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662" name="Freeform 21"/>
            <p:cNvSpPr/>
            <p:nvPr/>
          </p:nvSpPr>
          <p:spPr>
            <a:xfrm>
              <a:off x="0" y="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8" y="0"/>
                  </a:lnTo>
                  <a:lnTo>
                    <a:pt x="3355368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6" name="Group 22"/>
          <p:cNvGrpSpPr/>
          <p:nvPr/>
        </p:nvGrpSpPr>
        <p:grpSpPr>
          <a:xfrm rot="-5400000">
            <a:off x="4111414" y="3647445"/>
            <a:ext cx="429829" cy="376100"/>
            <a:chOff x="0" y="0"/>
            <a:chExt cx="812800" cy="711200"/>
          </a:xfrm>
        </p:grpSpPr>
        <p:sp>
          <p:nvSpPr>
            <p:cNvPr id="1048663" name="Freeform 2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6C2B6"/>
            </a:solidFill>
          </p:spPr>
        </p:sp>
        <p:sp>
          <p:nvSpPr>
            <p:cNvPr id="1048664" name="TextBox 24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7" name="Group 25"/>
          <p:cNvGrpSpPr/>
          <p:nvPr/>
        </p:nvGrpSpPr>
        <p:grpSpPr>
          <a:xfrm rot="0">
            <a:off x="4485804" y="2977210"/>
            <a:ext cx="12130769" cy="1716571"/>
            <a:chOff x="0" y="0"/>
            <a:chExt cx="3194935" cy="452101"/>
          </a:xfrm>
        </p:grpSpPr>
        <p:sp>
          <p:nvSpPr>
            <p:cNvPr id="1048665" name="Freeform 26"/>
            <p:cNvSpPr/>
            <p:nvPr/>
          </p:nvSpPr>
          <p:spPr>
            <a:xfrm>
              <a:off x="0" y="0"/>
              <a:ext cx="3194935" cy="452101"/>
            </a:xfrm>
            <a:custGeom>
              <a:avLst/>
              <a:gdLst/>
              <a:ahLst/>
              <a:cxnLst/>
              <a:rect l="l" t="t" r="r" b="b"/>
              <a:pathLst>
                <a:path w="3194935" h="452101">
                  <a:moveTo>
                    <a:pt x="10849" y="0"/>
                  </a:moveTo>
                  <a:lnTo>
                    <a:pt x="3184085" y="0"/>
                  </a:lnTo>
                  <a:cubicBezTo>
                    <a:pt x="3186963" y="0"/>
                    <a:pt x="3189723" y="1143"/>
                    <a:pt x="3191757" y="3178"/>
                  </a:cubicBezTo>
                  <a:cubicBezTo>
                    <a:pt x="3193792" y="5212"/>
                    <a:pt x="3194935" y="7972"/>
                    <a:pt x="3194935" y="10849"/>
                  </a:cubicBezTo>
                  <a:lnTo>
                    <a:pt x="3194935" y="441252"/>
                  </a:lnTo>
                  <a:cubicBezTo>
                    <a:pt x="3194935" y="444129"/>
                    <a:pt x="3193792" y="446889"/>
                    <a:pt x="3191757" y="448923"/>
                  </a:cubicBezTo>
                  <a:cubicBezTo>
                    <a:pt x="3189723" y="450958"/>
                    <a:pt x="3186963" y="452101"/>
                    <a:pt x="3184085" y="452101"/>
                  </a:cubicBezTo>
                  <a:lnTo>
                    <a:pt x="10849" y="452101"/>
                  </a:lnTo>
                  <a:cubicBezTo>
                    <a:pt x="7972" y="452101"/>
                    <a:pt x="5212" y="450958"/>
                    <a:pt x="3178" y="448923"/>
                  </a:cubicBezTo>
                  <a:cubicBezTo>
                    <a:pt x="1143" y="446889"/>
                    <a:pt x="0" y="444129"/>
                    <a:pt x="0" y="441252"/>
                  </a:cubicBezTo>
                  <a:lnTo>
                    <a:pt x="0" y="10849"/>
                  </a:lnTo>
                  <a:cubicBezTo>
                    <a:pt x="0" y="7972"/>
                    <a:pt x="1143" y="5212"/>
                    <a:pt x="3178" y="3178"/>
                  </a:cubicBezTo>
                  <a:cubicBezTo>
                    <a:pt x="5212" y="1143"/>
                    <a:pt x="7972" y="0"/>
                    <a:pt x="10849" y="0"/>
                  </a:cubicBezTo>
                  <a:close/>
                </a:path>
              </a:pathLst>
            </a:custGeom>
            <a:solidFill>
              <a:srgbClr val="96C2B6"/>
            </a:solidFill>
          </p:spPr>
        </p:sp>
        <p:sp>
          <p:nvSpPr>
            <p:cNvPr id="1048666" name="TextBox 27"/>
            <p:cNvSpPr txBox="1"/>
            <p:nvPr/>
          </p:nvSpPr>
          <p:spPr>
            <a:xfrm>
              <a:off x="0" y="-28575"/>
              <a:ext cx="3194935" cy="480676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48667" name="TextBox 28"/>
          <p:cNvSpPr txBox="1"/>
          <p:nvPr/>
        </p:nvSpPr>
        <p:spPr>
          <a:xfrm>
            <a:off x="4843708" y="3181435"/>
            <a:ext cx="1141496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just">
              <a:lnSpc>
                <a:spcPts val="4435"/>
              </a:lnSpc>
            </a:pPr>
            <a:r>
              <a:rPr lang="en-US" altLang="zh-CN" sz="264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ETL stands for Extract, Transform, and Load, which is a standard process used to handle and integrate raw data.</a:t>
            </a:r>
            <a:endParaRPr lang="en-US" altLang="zh-CN" sz="264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48" name="Group 29"/>
          <p:cNvGrpSpPr/>
          <p:nvPr/>
        </p:nvGrpSpPr>
        <p:grpSpPr>
          <a:xfrm rot="0">
            <a:off x="1465082" y="2613546"/>
            <a:ext cx="2443899" cy="2443899"/>
            <a:chOff x="0" y="0"/>
            <a:chExt cx="812800" cy="812800"/>
          </a:xfrm>
        </p:grpSpPr>
        <p:sp>
          <p:nvSpPr>
            <p:cNvPr id="1048668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6C2B6"/>
            </a:solidFill>
            <a:ln cap="sq">
              <a:noFill/>
              <a:prstDash val="solid"/>
              <a:miter/>
            </a:ln>
          </p:spPr>
        </p:sp>
        <p:sp>
          <p:nvSpPr>
            <p:cNvPr id="1048669" name="TextBox 31"/>
            <p:cNvSpPr txBox="1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48670" name="TextBox 32"/>
          <p:cNvSpPr txBox="1"/>
          <p:nvPr/>
        </p:nvSpPr>
        <p:spPr>
          <a:xfrm>
            <a:off x="1828806" y="3649615"/>
            <a:ext cx="185996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3165"/>
              </a:lnSpc>
            </a:pPr>
            <a:r>
              <a:rPr lang="en-US" altLang="zh-CN" sz="2030" b="1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ETL Concept</a:t>
            </a:r>
            <a:endParaRPr lang="en-US" altLang="zh-CN" sz="2030" b="1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grpSp>
        <p:nvGrpSpPr>
          <p:cNvPr id="49" name="Group 33"/>
          <p:cNvGrpSpPr/>
          <p:nvPr/>
        </p:nvGrpSpPr>
        <p:grpSpPr>
          <a:xfrm rot="-5400000">
            <a:off x="4111414" y="5652800"/>
            <a:ext cx="429829" cy="376100"/>
            <a:chOff x="0" y="0"/>
            <a:chExt cx="812800" cy="711200"/>
          </a:xfrm>
        </p:grpSpPr>
        <p:sp>
          <p:nvSpPr>
            <p:cNvPr id="1048671" name="Freeform 3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4B597"/>
            </a:solidFill>
          </p:spPr>
        </p:sp>
        <p:sp>
          <p:nvSpPr>
            <p:cNvPr id="1048672" name="TextBox 35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0" name="Group 36"/>
          <p:cNvGrpSpPr/>
          <p:nvPr/>
        </p:nvGrpSpPr>
        <p:grpSpPr>
          <a:xfrm rot="0">
            <a:off x="4485804" y="4982564"/>
            <a:ext cx="12337114" cy="1716571"/>
            <a:chOff x="0" y="0"/>
            <a:chExt cx="3249281" cy="452101"/>
          </a:xfrm>
        </p:grpSpPr>
        <p:sp>
          <p:nvSpPr>
            <p:cNvPr id="1048673" name="Freeform 37"/>
            <p:cNvSpPr/>
            <p:nvPr/>
          </p:nvSpPr>
          <p:spPr>
            <a:xfrm>
              <a:off x="0" y="0"/>
              <a:ext cx="3249281" cy="452101"/>
            </a:xfrm>
            <a:custGeom>
              <a:avLst/>
              <a:gdLst/>
              <a:ahLst/>
              <a:cxnLst/>
              <a:rect l="l" t="t" r="r" b="b"/>
              <a:pathLst>
                <a:path w="3249281" h="452101">
                  <a:moveTo>
                    <a:pt x="10668" y="0"/>
                  </a:moveTo>
                  <a:lnTo>
                    <a:pt x="3238613" y="0"/>
                  </a:lnTo>
                  <a:cubicBezTo>
                    <a:pt x="3241442" y="0"/>
                    <a:pt x="3244156" y="1124"/>
                    <a:pt x="3246157" y="3125"/>
                  </a:cubicBezTo>
                  <a:cubicBezTo>
                    <a:pt x="3248157" y="5125"/>
                    <a:pt x="3249281" y="7839"/>
                    <a:pt x="3249281" y="10668"/>
                  </a:cubicBezTo>
                  <a:lnTo>
                    <a:pt x="3249281" y="441433"/>
                  </a:lnTo>
                  <a:cubicBezTo>
                    <a:pt x="3249281" y="447325"/>
                    <a:pt x="3244505" y="452101"/>
                    <a:pt x="3238613" y="452101"/>
                  </a:cubicBezTo>
                  <a:lnTo>
                    <a:pt x="10668" y="452101"/>
                  </a:lnTo>
                  <a:cubicBezTo>
                    <a:pt x="7839" y="452101"/>
                    <a:pt x="5125" y="450977"/>
                    <a:pt x="3125" y="448976"/>
                  </a:cubicBezTo>
                  <a:cubicBezTo>
                    <a:pt x="1124" y="446976"/>
                    <a:pt x="0" y="444262"/>
                    <a:pt x="0" y="441433"/>
                  </a:cubicBezTo>
                  <a:lnTo>
                    <a:pt x="0" y="10668"/>
                  </a:lnTo>
                  <a:cubicBezTo>
                    <a:pt x="0" y="7839"/>
                    <a:pt x="1124" y="5125"/>
                    <a:pt x="3125" y="3125"/>
                  </a:cubicBezTo>
                  <a:cubicBezTo>
                    <a:pt x="5125" y="1124"/>
                    <a:pt x="7839" y="0"/>
                    <a:pt x="10668" y="0"/>
                  </a:cubicBezTo>
                  <a:close/>
                </a:path>
              </a:pathLst>
            </a:custGeom>
            <a:solidFill>
              <a:srgbClr val="E4B597"/>
            </a:solidFill>
          </p:spPr>
        </p:sp>
        <p:sp>
          <p:nvSpPr>
            <p:cNvPr id="1048674" name="TextBox 38"/>
            <p:cNvSpPr txBox="1"/>
            <p:nvPr/>
          </p:nvSpPr>
          <p:spPr>
            <a:xfrm>
              <a:off x="0" y="-28575"/>
              <a:ext cx="3249281" cy="480676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48675" name="TextBox 39"/>
          <p:cNvSpPr txBox="1"/>
          <p:nvPr/>
        </p:nvSpPr>
        <p:spPr>
          <a:xfrm>
            <a:off x="4724400" y="5107940"/>
            <a:ext cx="11725275" cy="13481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algn="just">
              <a:lnSpc>
                <a:spcPts val="4435"/>
              </a:lnSpc>
            </a:pPr>
            <a:r>
              <a:rPr lang="en-US" altLang="zh-CN"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In this project, ETL is implemented through practical steps such as web scraping, data cleaning, data storage, and data visualization.</a:t>
            </a:r>
            <a:endParaRPr lang="en-US" sz="2800">
              <a:solidFill>
                <a:srgbClr val="FFFFFF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51" name="Group 40"/>
          <p:cNvGrpSpPr/>
          <p:nvPr/>
        </p:nvGrpSpPr>
        <p:grpSpPr>
          <a:xfrm rot="0">
            <a:off x="1465082" y="4618901"/>
            <a:ext cx="2443899" cy="2443899"/>
            <a:chOff x="0" y="0"/>
            <a:chExt cx="812800" cy="812800"/>
          </a:xfrm>
        </p:grpSpPr>
        <p:sp>
          <p:nvSpPr>
            <p:cNvPr id="1048676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4B597"/>
            </a:solidFill>
            <a:ln cap="sq">
              <a:noFill/>
              <a:prstDash val="solid"/>
              <a:miter/>
            </a:ln>
          </p:spPr>
        </p:sp>
        <p:sp>
          <p:nvSpPr>
            <p:cNvPr id="1048677" name="TextBox 42"/>
            <p:cNvSpPr txBox="1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48678" name="TextBox 43"/>
          <p:cNvSpPr txBox="1"/>
          <p:nvPr/>
        </p:nvSpPr>
        <p:spPr>
          <a:xfrm>
            <a:off x="2037891" y="5587832"/>
            <a:ext cx="152561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3270"/>
              </a:lnSpc>
            </a:pPr>
            <a:r>
              <a:rPr lang="en-US" altLang="zh-CN" sz="2095" b="1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Approach</a:t>
            </a:r>
            <a:endParaRPr lang="en-US" altLang="zh-CN" sz="2095" b="1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grpSp>
        <p:nvGrpSpPr>
          <p:cNvPr id="52" name="Group 44"/>
          <p:cNvGrpSpPr/>
          <p:nvPr/>
        </p:nvGrpSpPr>
        <p:grpSpPr>
          <a:xfrm rot="-5400000">
            <a:off x="4111414" y="7658155"/>
            <a:ext cx="429829" cy="376100"/>
            <a:chOff x="0" y="0"/>
            <a:chExt cx="812800" cy="711200"/>
          </a:xfrm>
        </p:grpSpPr>
        <p:sp>
          <p:nvSpPr>
            <p:cNvPr id="1048679" name="Freeform 4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6C2B6"/>
            </a:solidFill>
          </p:spPr>
        </p:sp>
        <p:sp>
          <p:nvSpPr>
            <p:cNvPr id="1048680" name="TextBox 46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3" name="Group 47"/>
          <p:cNvGrpSpPr/>
          <p:nvPr/>
        </p:nvGrpSpPr>
        <p:grpSpPr>
          <a:xfrm rot="0">
            <a:off x="4485804" y="6987919"/>
            <a:ext cx="12337114" cy="1716571"/>
            <a:chOff x="0" y="0"/>
            <a:chExt cx="3249281" cy="452101"/>
          </a:xfrm>
        </p:grpSpPr>
        <p:sp>
          <p:nvSpPr>
            <p:cNvPr id="1048681" name="Freeform 48"/>
            <p:cNvSpPr/>
            <p:nvPr/>
          </p:nvSpPr>
          <p:spPr>
            <a:xfrm>
              <a:off x="0" y="0"/>
              <a:ext cx="3249281" cy="452101"/>
            </a:xfrm>
            <a:custGeom>
              <a:avLst/>
              <a:gdLst/>
              <a:ahLst/>
              <a:cxnLst/>
              <a:rect l="l" t="t" r="r" b="b"/>
              <a:pathLst>
                <a:path w="3249281" h="452101">
                  <a:moveTo>
                    <a:pt x="10668" y="0"/>
                  </a:moveTo>
                  <a:lnTo>
                    <a:pt x="3238613" y="0"/>
                  </a:lnTo>
                  <a:cubicBezTo>
                    <a:pt x="3241442" y="0"/>
                    <a:pt x="3244156" y="1124"/>
                    <a:pt x="3246157" y="3125"/>
                  </a:cubicBezTo>
                  <a:cubicBezTo>
                    <a:pt x="3248157" y="5125"/>
                    <a:pt x="3249281" y="7839"/>
                    <a:pt x="3249281" y="10668"/>
                  </a:cubicBezTo>
                  <a:lnTo>
                    <a:pt x="3249281" y="441433"/>
                  </a:lnTo>
                  <a:cubicBezTo>
                    <a:pt x="3249281" y="447325"/>
                    <a:pt x="3244505" y="452101"/>
                    <a:pt x="3238613" y="452101"/>
                  </a:cubicBezTo>
                  <a:lnTo>
                    <a:pt x="10668" y="452101"/>
                  </a:lnTo>
                  <a:cubicBezTo>
                    <a:pt x="7839" y="452101"/>
                    <a:pt x="5125" y="450977"/>
                    <a:pt x="3125" y="448976"/>
                  </a:cubicBezTo>
                  <a:cubicBezTo>
                    <a:pt x="1124" y="446976"/>
                    <a:pt x="0" y="444262"/>
                    <a:pt x="0" y="441433"/>
                  </a:cubicBezTo>
                  <a:lnTo>
                    <a:pt x="0" y="10668"/>
                  </a:lnTo>
                  <a:cubicBezTo>
                    <a:pt x="0" y="7839"/>
                    <a:pt x="1124" y="5125"/>
                    <a:pt x="3125" y="3125"/>
                  </a:cubicBezTo>
                  <a:cubicBezTo>
                    <a:pt x="5125" y="1124"/>
                    <a:pt x="7839" y="0"/>
                    <a:pt x="10668" y="0"/>
                  </a:cubicBezTo>
                  <a:close/>
                </a:path>
              </a:pathLst>
            </a:custGeom>
            <a:solidFill>
              <a:srgbClr val="96C2B6"/>
            </a:solidFill>
          </p:spPr>
        </p:sp>
        <p:sp>
          <p:nvSpPr>
            <p:cNvPr id="1048682" name="TextBox 49"/>
            <p:cNvSpPr txBox="1"/>
            <p:nvPr/>
          </p:nvSpPr>
          <p:spPr>
            <a:xfrm>
              <a:off x="0" y="-28575"/>
              <a:ext cx="3249281" cy="480676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48683" name="TextBox 50"/>
          <p:cNvSpPr txBox="1"/>
          <p:nvPr/>
        </p:nvSpPr>
        <p:spPr>
          <a:xfrm>
            <a:off x="4524375" y="6962775"/>
            <a:ext cx="12272645" cy="17265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algn="just">
              <a:lnSpc>
                <a:spcPts val="4415"/>
              </a:lnSpc>
            </a:pPr>
            <a:r>
              <a:rPr lang="en-US" altLang="zh-CN" sz="2400">
                <a:solidFill>
                  <a:schemeClr val="bg1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ETL stands for Extract, Transform, and Load.It is a standard data engineering process used to integrate data from different sources into a centralized storage system.ETL ensures that data is accurate, consistent, and ready for further analysis or reporting.</a:t>
            </a:r>
            <a:endParaRPr lang="en-US" altLang="zh-CN" sz="2400">
              <a:solidFill>
                <a:schemeClr val="bg1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684" name="TextBox 51"/>
          <p:cNvSpPr txBox="1"/>
          <p:nvPr/>
        </p:nvSpPr>
        <p:spPr>
          <a:xfrm>
            <a:off x="1990271" y="7300757"/>
            <a:ext cx="1393520" cy="83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3270"/>
              </a:lnSpc>
            </a:pPr>
            <a:r>
              <a:rPr lang="en-US" sz="2095" b="1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ETL Overview</a:t>
            </a:r>
            <a:endParaRPr lang="en-US" sz="2095" b="1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2"/>
          <p:cNvGrpSpPr/>
          <p:nvPr/>
        </p:nvGrpSpPr>
        <p:grpSpPr>
          <a:xfrm rot="0">
            <a:off x="-3730103" y="-2813278"/>
            <a:ext cx="9218727" cy="6768785"/>
            <a:chOff x="0" y="0"/>
            <a:chExt cx="12291637" cy="9025047"/>
          </a:xfrm>
        </p:grpSpPr>
        <p:sp>
          <p:nvSpPr>
            <p:cNvPr id="1048686" name="Freeform 3"/>
            <p:cNvSpPr/>
            <p:nvPr/>
          </p:nvSpPr>
          <p:spPr>
            <a:xfrm rot="9077007">
              <a:off x="1891864" y="2233752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6" y="0"/>
                  </a:lnTo>
                  <a:lnTo>
                    <a:pt x="10189646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87" name="Freeform 4"/>
            <p:cNvSpPr/>
            <p:nvPr/>
          </p:nvSpPr>
          <p:spPr>
            <a:xfrm rot="9077007">
              <a:off x="210127" y="3308289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5" y="0"/>
                  </a:lnTo>
                  <a:lnTo>
                    <a:pt x="10189645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88" name="Freeform 5"/>
            <p:cNvSpPr/>
            <p:nvPr/>
          </p:nvSpPr>
          <p:spPr>
            <a:xfrm rot="-10347187">
              <a:off x="4114981" y="5150856"/>
              <a:ext cx="1716978" cy="2698591"/>
            </a:xfrm>
            <a:custGeom>
              <a:avLst/>
              <a:gdLst/>
              <a:ahLst/>
              <a:cxnLst/>
              <a:rect l="l" t="t" r="r" b="b"/>
              <a:pathLst>
                <a:path w="1716978" h="2698591">
                  <a:moveTo>
                    <a:pt x="0" y="0"/>
                  </a:moveTo>
                  <a:lnTo>
                    <a:pt x="1716978" y="0"/>
                  </a:lnTo>
                  <a:lnTo>
                    <a:pt x="1716978" y="2698591"/>
                  </a:lnTo>
                  <a:lnTo>
                    <a:pt x="0" y="2698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89" name="Freeform 6"/>
            <p:cNvSpPr/>
            <p:nvPr/>
          </p:nvSpPr>
          <p:spPr>
            <a:xfrm rot="8389701">
              <a:off x="3133593" y="4006912"/>
              <a:ext cx="2848589" cy="4155996"/>
            </a:xfrm>
            <a:custGeom>
              <a:avLst/>
              <a:gdLst/>
              <a:ahLst/>
              <a:cxnLst/>
              <a:rect l="l" t="t" r="r" b="b"/>
              <a:pathLst>
                <a:path w="2848589" h="4155996">
                  <a:moveTo>
                    <a:pt x="0" y="0"/>
                  </a:moveTo>
                  <a:lnTo>
                    <a:pt x="2848589" y="0"/>
                  </a:lnTo>
                  <a:lnTo>
                    <a:pt x="2848589" y="4155996"/>
                  </a:lnTo>
                  <a:lnTo>
                    <a:pt x="0" y="4155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6" name="Group 7"/>
          <p:cNvGrpSpPr/>
          <p:nvPr/>
        </p:nvGrpSpPr>
        <p:grpSpPr>
          <a:xfrm rot="0">
            <a:off x="10879974" y="7367432"/>
            <a:ext cx="9284255" cy="7286803"/>
            <a:chOff x="0" y="0"/>
            <a:chExt cx="12379006" cy="9715737"/>
          </a:xfrm>
        </p:grpSpPr>
        <p:sp>
          <p:nvSpPr>
            <p:cNvPr id="1048690" name="Freeform 8"/>
            <p:cNvSpPr/>
            <p:nvPr/>
          </p:nvSpPr>
          <p:spPr>
            <a:xfrm rot="-2423874">
              <a:off x="4181928" y="2341989"/>
              <a:ext cx="8266968" cy="2825800"/>
            </a:xfrm>
            <a:custGeom>
              <a:avLst/>
              <a:gdLst/>
              <a:ahLst/>
              <a:cxnLst/>
              <a:rect l="l" t="t" r="r" b="b"/>
              <a:pathLst>
                <a:path w="8266968" h="2825800">
                  <a:moveTo>
                    <a:pt x="0" y="0"/>
                  </a:moveTo>
                  <a:lnTo>
                    <a:pt x="8266968" y="0"/>
                  </a:lnTo>
                  <a:lnTo>
                    <a:pt x="8266968" y="2825800"/>
                  </a:lnTo>
                  <a:lnTo>
                    <a:pt x="0" y="282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91" name="Freeform 9"/>
            <p:cNvSpPr/>
            <p:nvPr/>
          </p:nvSpPr>
          <p:spPr>
            <a:xfrm rot="-2052013">
              <a:off x="103199" y="3340988"/>
              <a:ext cx="10744424" cy="3672640"/>
            </a:xfrm>
            <a:custGeom>
              <a:avLst/>
              <a:gdLst/>
              <a:ahLst/>
              <a:cxnLst/>
              <a:rect l="l" t="t" r="r" b="b"/>
              <a:pathLst>
                <a:path w="10744424" h="3672640">
                  <a:moveTo>
                    <a:pt x="0" y="0"/>
                  </a:moveTo>
                  <a:lnTo>
                    <a:pt x="10744425" y="0"/>
                  </a:lnTo>
                  <a:lnTo>
                    <a:pt x="10744425" y="3672640"/>
                  </a:lnTo>
                  <a:lnTo>
                    <a:pt x="0" y="36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92" name="Freeform 10"/>
            <p:cNvSpPr/>
            <p:nvPr/>
          </p:nvSpPr>
          <p:spPr>
            <a:xfrm rot="-1980880">
              <a:off x="9122963" y="1425375"/>
              <a:ext cx="1356542" cy="2132089"/>
            </a:xfrm>
            <a:custGeom>
              <a:avLst/>
              <a:gdLst/>
              <a:ahLst/>
              <a:cxnLst/>
              <a:rect l="l" t="t" r="r" b="b"/>
              <a:pathLst>
                <a:path w="1356542" h="2132089">
                  <a:moveTo>
                    <a:pt x="0" y="0"/>
                  </a:moveTo>
                  <a:lnTo>
                    <a:pt x="1356541" y="0"/>
                  </a:lnTo>
                  <a:lnTo>
                    <a:pt x="1356541" y="2132089"/>
                  </a:lnTo>
                  <a:lnTo>
                    <a:pt x="0" y="213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693" name="Freeform 11"/>
            <p:cNvSpPr/>
            <p:nvPr/>
          </p:nvSpPr>
          <p:spPr>
            <a:xfrm rot="8376125">
              <a:off x="6402473" y="1842091"/>
              <a:ext cx="2622128" cy="3825597"/>
            </a:xfrm>
            <a:custGeom>
              <a:avLst/>
              <a:gdLst/>
              <a:ahLst/>
              <a:cxnLst/>
              <a:rect l="l" t="t" r="r" b="b"/>
              <a:pathLst>
                <a:path w="2622128" h="3825597">
                  <a:moveTo>
                    <a:pt x="0" y="0"/>
                  </a:moveTo>
                  <a:lnTo>
                    <a:pt x="2622128" y="0"/>
                  </a:lnTo>
                  <a:lnTo>
                    <a:pt x="2622128" y="3825597"/>
                  </a:lnTo>
                  <a:lnTo>
                    <a:pt x="0" y="3825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7" name="Group 12"/>
          <p:cNvGrpSpPr/>
          <p:nvPr/>
        </p:nvGrpSpPr>
        <p:grpSpPr>
          <a:xfrm rot="0">
            <a:off x="16616573" y="-1328850"/>
            <a:ext cx="3547656" cy="3608717"/>
            <a:chOff x="0" y="0"/>
            <a:chExt cx="4730208" cy="4811622"/>
          </a:xfrm>
        </p:grpSpPr>
        <p:sp>
          <p:nvSpPr>
            <p:cNvPr id="1048694" name="Freeform 13"/>
            <p:cNvSpPr/>
            <p:nvPr/>
          </p:nvSpPr>
          <p:spPr>
            <a:xfrm>
              <a:off x="0" y="0"/>
              <a:ext cx="4730208" cy="4345879"/>
            </a:xfrm>
            <a:custGeom>
              <a:avLst/>
              <a:gdLst/>
              <a:ahLst/>
              <a:cxnLst/>
              <a:rect l="l" t="t" r="r" b="b"/>
              <a:pathLst>
                <a:path w="4730208" h="4345879">
                  <a:moveTo>
                    <a:pt x="0" y="0"/>
                  </a:moveTo>
                  <a:lnTo>
                    <a:pt x="4730208" y="0"/>
                  </a:lnTo>
                  <a:lnTo>
                    <a:pt x="4730208" y="4345879"/>
                  </a:lnTo>
                  <a:lnTo>
                    <a:pt x="0" y="4345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695" name="Freeform 14"/>
            <p:cNvSpPr/>
            <p:nvPr/>
          </p:nvSpPr>
          <p:spPr>
            <a:xfrm>
              <a:off x="1145988" y="25495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58" name="Group 15"/>
          <p:cNvGrpSpPr/>
          <p:nvPr/>
        </p:nvGrpSpPr>
        <p:grpSpPr>
          <a:xfrm rot="0">
            <a:off x="-1487826" y="8289427"/>
            <a:ext cx="3240139" cy="3750106"/>
            <a:chOff x="0" y="0"/>
            <a:chExt cx="4320185" cy="5000142"/>
          </a:xfrm>
        </p:grpSpPr>
        <p:sp>
          <p:nvSpPr>
            <p:cNvPr id="1048696" name="Freeform 16"/>
            <p:cNvSpPr/>
            <p:nvPr/>
          </p:nvSpPr>
          <p:spPr>
            <a:xfrm>
              <a:off x="283928" y="1291831"/>
              <a:ext cx="4036257" cy="3708311"/>
            </a:xfrm>
            <a:custGeom>
              <a:avLst/>
              <a:gdLst/>
              <a:ahLst/>
              <a:cxnLst/>
              <a:rect l="l" t="t" r="r" b="b"/>
              <a:pathLst>
                <a:path w="4036257" h="3708311">
                  <a:moveTo>
                    <a:pt x="0" y="0"/>
                  </a:moveTo>
                  <a:lnTo>
                    <a:pt x="4036257" y="0"/>
                  </a:lnTo>
                  <a:lnTo>
                    <a:pt x="4036257" y="3708311"/>
                  </a:lnTo>
                  <a:lnTo>
                    <a:pt x="0" y="370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697" name="Freeform 17"/>
            <p:cNvSpPr/>
            <p:nvPr/>
          </p:nvSpPr>
          <p:spPr>
            <a:xfrm>
              <a:off x="0" y="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8" y="0"/>
                  </a:lnTo>
                  <a:lnTo>
                    <a:pt x="3355368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59" name="Group 18"/>
          <p:cNvGrpSpPr/>
          <p:nvPr/>
        </p:nvGrpSpPr>
        <p:grpSpPr>
          <a:xfrm rot="0">
            <a:off x="1526595" y="2279867"/>
            <a:ext cx="7924060" cy="4921073"/>
            <a:chOff x="0" y="0"/>
            <a:chExt cx="7462056" cy="4634155"/>
          </a:xfrm>
        </p:grpSpPr>
        <p:sp>
          <p:nvSpPr>
            <p:cNvPr id="1048698" name="Freeform 19"/>
            <p:cNvSpPr/>
            <p:nvPr/>
          </p:nvSpPr>
          <p:spPr>
            <a:xfrm>
              <a:off x="0" y="0"/>
              <a:ext cx="7462055" cy="4634155"/>
            </a:xfrm>
            <a:custGeom>
              <a:avLst/>
              <a:gdLst/>
              <a:ahLst/>
              <a:cxnLst/>
              <a:rect l="l" t="t" r="r" b="b"/>
              <a:pathLst>
                <a:path w="7462055" h="4634155">
                  <a:moveTo>
                    <a:pt x="24425" y="0"/>
                  </a:moveTo>
                  <a:lnTo>
                    <a:pt x="7437630" y="0"/>
                  </a:lnTo>
                  <a:cubicBezTo>
                    <a:pt x="7444108" y="0"/>
                    <a:pt x="7450320" y="2573"/>
                    <a:pt x="7454902" y="7154"/>
                  </a:cubicBezTo>
                  <a:cubicBezTo>
                    <a:pt x="7459482" y="11735"/>
                    <a:pt x="7462055" y="17947"/>
                    <a:pt x="7462055" y="24425"/>
                  </a:cubicBezTo>
                  <a:lnTo>
                    <a:pt x="7462055" y="4609730"/>
                  </a:lnTo>
                  <a:cubicBezTo>
                    <a:pt x="7462055" y="4623219"/>
                    <a:pt x="7451120" y="4634155"/>
                    <a:pt x="7437630" y="4634155"/>
                  </a:cubicBezTo>
                  <a:lnTo>
                    <a:pt x="24425" y="4634155"/>
                  </a:lnTo>
                  <a:cubicBezTo>
                    <a:pt x="10936" y="4634155"/>
                    <a:pt x="0" y="4623219"/>
                    <a:pt x="0" y="4609730"/>
                  </a:cubicBezTo>
                  <a:lnTo>
                    <a:pt x="0" y="24425"/>
                  </a:lnTo>
                  <a:cubicBezTo>
                    <a:pt x="0" y="10936"/>
                    <a:pt x="10936" y="0"/>
                    <a:pt x="2442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BFDDD6"/>
              </a:solidFill>
              <a:prstDash val="solid"/>
              <a:round/>
            </a:ln>
          </p:spPr>
        </p:sp>
        <p:sp>
          <p:nvSpPr>
            <p:cNvPr id="1048699" name="TextBox 20"/>
            <p:cNvSpPr txBox="1"/>
            <p:nvPr/>
          </p:nvSpPr>
          <p:spPr>
            <a:xfrm>
              <a:off x="0" y="-28575"/>
              <a:ext cx="7462056" cy="466273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700" name="Freeform 21"/>
          <p:cNvSpPr/>
          <p:nvPr/>
        </p:nvSpPr>
        <p:spPr>
          <a:xfrm>
            <a:off x="10338949" y="2071961"/>
            <a:ext cx="7174398" cy="6143079"/>
          </a:xfrm>
          <a:custGeom>
            <a:avLst/>
            <a:gdLst/>
            <a:ahLst/>
            <a:cxnLst/>
            <a:rect l="l" t="t" r="r" b="b"/>
            <a:pathLst>
              <a:path w="7174398" h="6143079">
                <a:moveTo>
                  <a:pt x="0" y="0"/>
                </a:moveTo>
                <a:lnTo>
                  <a:pt x="7174398" y="0"/>
                </a:lnTo>
                <a:lnTo>
                  <a:pt x="7174398" y="6143078"/>
                </a:lnTo>
                <a:lnTo>
                  <a:pt x="0" y="61430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48701" name="TextBox 22"/>
          <p:cNvSpPr txBox="1"/>
          <p:nvPr/>
        </p:nvSpPr>
        <p:spPr>
          <a:xfrm>
            <a:off x="1818988" y="800100"/>
            <a:ext cx="7152178" cy="7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5995"/>
              </a:lnSpc>
            </a:pPr>
            <a:r>
              <a:rPr lang="en-US" sz="499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Data Scraping Process</a:t>
            </a:r>
            <a:endParaRPr lang="en-US" sz="4995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048702" name="TextBox 23"/>
          <p:cNvSpPr txBox="1"/>
          <p:nvPr/>
        </p:nvSpPr>
        <p:spPr>
          <a:xfrm>
            <a:off x="2047437" y="2294041"/>
            <a:ext cx="6695281" cy="499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just">
              <a:lnSpc>
                <a:spcPts val="3360"/>
              </a:lnSpc>
            </a:pPr>
            <a:r>
              <a:rPr lang="en-US" sz="2000" b="1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Scraping Environment</a:t>
            </a:r>
            <a:endParaRPr lang="en-US" sz="2000" b="1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– Google Colab (cloud-based Python environment)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525"/>
              </a:lnSpc>
            </a:pPr>
            <a:r>
              <a:rPr lang="en-US" sz="2100" b="1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Tools &amp; Libraries Used</a:t>
            </a:r>
            <a:endParaRPr lang="en-US" sz="2100" b="1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– requests – retrieve webpage content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– BeautifulSoup – parse and extract HTML elements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– pandas – structure and store scraped data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– re – clean and extract text patterns (price, symbols)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3525"/>
              </a:lnSpc>
            </a:pPr>
            <a:r>
              <a:rPr lang="en-US" sz="2100" b="1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Scraping Workflow</a:t>
            </a:r>
            <a:endParaRPr lang="en-US" sz="2100" b="1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  <a:p>
            <a:pPr marL="367030" lvl="1" indent="-183515" algn="just">
              <a:lnSpc>
                <a:spcPts val="2855"/>
              </a:lnSpc>
              <a:buAutoNum type="arabicPeriod"/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Send HTTP request to the target webpage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367030" lvl="1" indent="-183515" algn="just">
              <a:lnSpc>
                <a:spcPts val="2855"/>
              </a:lnSpc>
              <a:buAutoNum type="arabicPeriod"/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Parse HTML content using BeautifulSoup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367030" lvl="1" indent="-183515" algn="just">
              <a:lnSpc>
                <a:spcPts val="2855"/>
              </a:lnSpc>
              <a:buAutoNum type="arabicPeriod"/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Locate product-related elements (name, price, brand, stock)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367030" lvl="1" indent="-183515" algn="just">
              <a:lnSpc>
                <a:spcPts val="2855"/>
              </a:lnSpc>
              <a:buAutoNum type="arabicPeriod"/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Store extracted data into a pandas DataFrame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2855"/>
              </a:lnSpc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 rot="0">
            <a:off x="-3730103" y="-2813278"/>
            <a:ext cx="9218727" cy="6768785"/>
            <a:chOff x="0" y="0"/>
            <a:chExt cx="12291637" cy="9025047"/>
          </a:xfrm>
        </p:grpSpPr>
        <p:sp>
          <p:nvSpPr>
            <p:cNvPr id="1048703" name="Freeform 3"/>
            <p:cNvSpPr/>
            <p:nvPr/>
          </p:nvSpPr>
          <p:spPr>
            <a:xfrm rot="9077007">
              <a:off x="1891864" y="2233752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6" y="0"/>
                  </a:lnTo>
                  <a:lnTo>
                    <a:pt x="10189646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04" name="Freeform 4"/>
            <p:cNvSpPr/>
            <p:nvPr/>
          </p:nvSpPr>
          <p:spPr>
            <a:xfrm rot="9077007">
              <a:off x="210127" y="3308289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5" y="0"/>
                  </a:lnTo>
                  <a:lnTo>
                    <a:pt x="10189645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05" name="Freeform 5"/>
            <p:cNvSpPr/>
            <p:nvPr/>
          </p:nvSpPr>
          <p:spPr>
            <a:xfrm rot="-10347187">
              <a:off x="4114981" y="5150856"/>
              <a:ext cx="1716978" cy="2698591"/>
            </a:xfrm>
            <a:custGeom>
              <a:avLst/>
              <a:gdLst/>
              <a:ahLst/>
              <a:cxnLst/>
              <a:rect l="l" t="t" r="r" b="b"/>
              <a:pathLst>
                <a:path w="1716978" h="2698591">
                  <a:moveTo>
                    <a:pt x="0" y="0"/>
                  </a:moveTo>
                  <a:lnTo>
                    <a:pt x="1716978" y="0"/>
                  </a:lnTo>
                  <a:lnTo>
                    <a:pt x="1716978" y="2698591"/>
                  </a:lnTo>
                  <a:lnTo>
                    <a:pt x="0" y="2698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06" name="Freeform 6"/>
            <p:cNvSpPr/>
            <p:nvPr/>
          </p:nvSpPr>
          <p:spPr>
            <a:xfrm rot="8389701">
              <a:off x="3133593" y="4006912"/>
              <a:ext cx="2848589" cy="4155996"/>
            </a:xfrm>
            <a:custGeom>
              <a:avLst/>
              <a:gdLst/>
              <a:ahLst/>
              <a:cxnLst/>
              <a:rect l="l" t="t" r="r" b="b"/>
              <a:pathLst>
                <a:path w="2848589" h="4155996">
                  <a:moveTo>
                    <a:pt x="0" y="0"/>
                  </a:moveTo>
                  <a:lnTo>
                    <a:pt x="2848589" y="0"/>
                  </a:lnTo>
                  <a:lnTo>
                    <a:pt x="2848589" y="4155996"/>
                  </a:lnTo>
                  <a:lnTo>
                    <a:pt x="0" y="4155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48707" name="TextBox 7"/>
          <p:cNvSpPr txBox="1"/>
          <p:nvPr/>
        </p:nvSpPr>
        <p:spPr>
          <a:xfrm>
            <a:off x="1818988" y="800100"/>
            <a:ext cx="9181052" cy="7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5995"/>
              </a:lnSpc>
            </a:pPr>
            <a:r>
              <a:rPr lang="en-US" sz="499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Data Cleaning &amp; Formatting</a:t>
            </a:r>
            <a:endParaRPr lang="en-US" sz="4995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grpSp>
        <p:nvGrpSpPr>
          <p:cNvPr id="62" name="Group 8"/>
          <p:cNvGrpSpPr/>
          <p:nvPr/>
        </p:nvGrpSpPr>
        <p:grpSpPr>
          <a:xfrm rot="0">
            <a:off x="10879974" y="7367432"/>
            <a:ext cx="9284255" cy="7286803"/>
            <a:chOff x="0" y="0"/>
            <a:chExt cx="12379006" cy="9715737"/>
          </a:xfrm>
        </p:grpSpPr>
        <p:sp>
          <p:nvSpPr>
            <p:cNvPr id="1048708" name="Freeform 9"/>
            <p:cNvSpPr/>
            <p:nvPr/>
          </p:nvSpPr>
          <p:spPr>
            <a:xfrm rot="-2423874">
              <a:off x="4181928" y="2341989"/>
              <a:ext cx="8266968" cy="2825800"/>
            </a:xfrm>
            <a:custGeom>
              <a:avLst/>
              <a:gdLst/>
              <a:ahLst/>
              <a:cxnLst/>
              <a:rect l="l" t="t" r="r" b="b"/>
              <a:pathLst>
                <a:path w="8266968" h="2825800">
                  <a:moveTo>
                    <a:pt x="0" y="0"/>
                  </a:moveTo>
                  <a:lnTo>
                    <a:pt x="8266968" y="0"/>
                  </a:lnTo>
                  <a:lnTo>
                    <a:pt x="8266968" y="2825800"/>
                  </a:lnTo>
                  <a:lnTo>
                    <a:pt x="0" y="282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09" name="Freeform 10"/>
            <p:cNvSpPr/>
            <p:nvPr/>
          </p:nvSpPr>
          <p:spPr>
            <a:xfrm rot="-2052013">
              <a:off x="103199" y="3340988"/>
              <a:ext cx="10744424" cy="3672640"/>
            </a:xfrm>
            <a:custGeom>
              <a:avLst/>
              <a:gdLst/>
              <a:ahLst/>
              <a:cxnLst/>
              <a:rect l="l" t="t" r="r" b="b"/>
              <a:pathLst>
                <a:path w="10744424" h="3672640">
                  <a:moveTo>
                    <a:pt x="0" y="0"/>
                  </a:moveTo>
                  <a:lnTo>
                    <a:pt x="10744425" y="0"/>
                  </a:lnTo>
                  <a:lnTo>
                    <a:pt x="10744425" y="3672640"/>
                  </a:lnTo>
                  <a:lnTo>
                    <a:pt x="0" y="36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10" name="Freeform 11"/>
            <p:cNvSpPr/>
            <p:nvPr/>
          </p:nvSpPr>
          <p:spPr>
            <a:xfrm rot="-1980880">
              <a:off x="9122963" y="1425375"/>
              <a:ext cx="1356542" cy="2132089"/>
            </a:xfrm>
            <a:custGeom>
              <a:avLst/>
              <a:gdLst/>
              <a:ahLst/>
              <a:cxnLst/>
              <a:rect l="l" t="t" r="r" b="b"/>
              <a:pathLst>
                <a:path w="1356542" h="2132089">
                  <a:moveTo>
                    <a:pt x="0" y="0"/>
                  </a:moveTo>
                  <a:lnTo>
                    <a:pt x="1356541" y="0"/>
                  </a:lnTo>
                  <a:lnTo>
                    <a:pt x="1356541" y="2132089"/>
                  </a:lnTo>
                  <a:lnTo>
                    <a:pt x="0" y="213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11" name="Freeform 12"/>
            <p:cNvSpPr/>
            <p:nvPr/>
          </p:nvSpPr>
          <p:spPr>
            <a:xfrm rot="8376125">
              <a:off x="6402473" y="1842091"/>
              <a:ext cx="2622128" cy="3825597"/>
            </a:xfrm>
            <a:custGeom>
              <a:avLst/>
              <a:gdLst/>
              <a:ahLst/>
              <a:cxnLst/>
              <a:rect l="l" t="t" r="r" b="b"/>
              <a:pathLst>
                <a:path w="2622128" h="3825597">
                  <a:moveTo>
                    <a:pt x="0" y="0"/>
                  </a:moveTo>
                  <a:lnTo>
                    <a:pt x="2622128" y="0"/>
                  </a:lnTo>
                  <a:lnTo>
                    <a:pt x="2622128" y="3825597"/>
                  </a:lnTo>
                  <a:lnTo>
                    <a:pt x="0" y="3825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3" name="Group 13"/>
          <p:cNvGrpSpPr/>
          <p:nvPr/>
        </p:nvGrpSpPr>
        <p:grpSpPr>
          <a:xfrm rot="0">
            <a:off x="16616573" y="-1328850"/>
            <a:ext cx="3547656" cy="3608717"/>
            <a:chOff x="0" y="0"/>
            <a:chExt cx="4730208" cy="4811622"/>
          </a:xfrm>
        </p:grpSpPr>
        <p:sp>
          <p:nvSpPr>
            <p:cNvPr id="1048712" name="Freeform 14"/>
            <p:cNvSpPr/>
            <p:nvPr/>
          </p:nvSpPr>
          <p:spPr>
            <a:xfrm>
              <a:off x="0" y="0"/>
              <a:ext cx="4730208" cy="4345879"/>
            </a:xfrm>
            <a:custGeom>
              <a:avLst/>
              <a:gdLst/>
              <a:ahLst/>
              <a:cxnLst/>
              <a:rect l="l" t="t" r="r" b="b"/>
              <a:pathLst>
                <a:path w="4730208" h="4345879">
                  <a:moveTo>
                    <a:pt x="0" y="0"/>
                  </a:moveTo>
                  <a:lnTo>
                    <a:pt x="4730208" y="0"/>
                  </a:lnTo>
                  <a:lnTo>
                    <a:pt x="4730208" y="4345879"/>
                  </a:lnTo>
                  <a:lnTo>
                    <a:pt x="0" y="4345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713" name="Freeform 15"/>
            <p:cNvSpPr/>
            <p:nvPr/>
          </p:nvSpPr>
          <p:spPr>
            <a:xfrm>
              <a:off x="1145988" y="25495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64" name="Group 16"/>
          <p:cNvGrpSpPr/>
          <p:nvPr/>
        </p:nvGrpSpPr>
        <p:grpSpPr>
          <a:xfrm rot="0">
            <a:off x="-1487826" y="8289427"/>
            <a:ext cx="3240139" cy="3750106"/>
            <a:chOff x="0" y="0"/>
            <a:chExt cx="4320185" cy="5000142"/>
          </a:xfrm>
        </p:grpSpPr>
        <p:sp>
          <p:nvSpPr>
            <p:cNvPr id="1048714" name="Freeform 17"/>
            <p:cNvSpPr/>
            <p:nvPr/>
          </p:nvSpPr>
          <p:spPr>
            <a:xfrm>
              <a:off x="283928" y="1291831"/>
              <a:ext cx="4036257" cy="3708311"/>
            </a:xfrm>
            <a:custGeom>
              <a:avLst/>
              <a:gdLst/>
              <a:ahLst/>
              <a:cxnLst/>
              <a:rect l="l" t="t" r="r" b="b"/>
              <a:pathLst>
                <a:path w="4036257" h="3708311">
                  <a:moveTo>
                    <a:pt x="0" y="0"/>
                  </a:moveTo>
                  <a:lnTo>
                    <a:pt x="4036257" y="0"/>
                  </a:lnTo>
                  <a:lnTo>
                    <a:pt x="4036257" y="3708311"/>
                  </a:lnTo>
                  <a:lnTo>
                    <a:pt x="0" y="370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715" name="Freeform 18"/>
            <p:cNvSpPr/>
            <p:nvPr/>
          </p:nvSpPr>
          <p:spPr>
            <a:xfrm>
              <a:off x="0" y="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8" y="0"/>
                  </a:lnTo>
                  <a:lnTo>
                    <a:pt x="3355368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48716" name="TextBox 19"/>
          <p:cNvSpPr txBox="1"/>
          <p:nvPr>
            <p:custDataLst>
              <p:tags r:id="rId6"/>
            </p:custDataLst>
          </p:nvPr>
        </p:nvSpPr>
        <p:spPr>
          <a:xfrm>
            <a:off x="4365057" y="5250652"/>
            <a:ext cx="4088915" cy="146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– Removed currency symbols such as RM and $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– Converted price values from text to numeric format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717" name="TextBox 20"/>
          <p:cNvSpPr txBox="1"/>
          <p:nvPr>
            <p:custDataLst>
              <p:tags r:id="rId7"/>
            </p:custDataLst>
          </p:nvPr>
        </p:nvSpPr>
        <p:spPr>
          <a:xfrm>
            <a:off x="4365057" y="4472427"/>
            <a:ext cx="4088915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Price Formatting</a:t>
            </a:r>
            <a:endParaRPr lang="en-US" sz="2800" b="1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048718" name="TextBox 21"/>
          <p:cNvSpPr txBox="1"/>
          <p:nvPr>
            <p:custDataLst>
              <p:tags r:id="rId8"/>
            </p:custDataLst>
          </p:nvPr>
        </p:nvSpPr>
        <p:spPr>
          <a:xfrm>
            <a:off x="4365057" y="8101857"/>
            <a:ext cx="4088915" cy="1097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– Converted brand names to lowercase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– Trimmed extra spaces in product names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719" name="TextBox 22"/>
          <p:cNvSpPr txBox="1"/>
          <p:nvPr>
            <p:custDataLst>
              <p:tags r:id="rId9"/>
            </p:custDataLst>
          </p:nvPr>
        </p:nvSpPr>
        <p:spPr>
          <a:xfrm>
            <a:off x="4442458" y="7281707"/>
            <a:ext cx="4088915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Text Standardisation</a:t>
            </a:r>
            <a:endParaRPr lang="en-US" sz="280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grpSp>
        <p:nvGrpSpPr>
          <p:cNvPr id="65" name="Group 23"/>
          <p:cNvGrpSpPr/>
          <p:nvPr>
            <p:custDataLst>
              <p:tags r:id="rId10"/>
            </p:custDataLst>
          </p:nvPr>
        </p:nvGrpSpPr>
        <p:grpSpPr>
          <a:xfrm rot="0">
            <a:off x="2254621" y="4754076"/>
            <a:ext cx="1319861" cy="1319861"/>
            <a:chOff x="0" y="0"/>
            <a:chExt cx="812800" cy="812800"/>
          </a:xfrm>
        </p:grpSpPr>
        <p:sp>
          <p:nvSpPr>
            <p:cNvPr id="1048720" name="Freeform 24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B597"/>
            </a:solidFill>
          </p:spPr>
        </p:sp>
        <p:sp>
          <p:nvSpPr>
            <p:cNvPr id="1048721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6" name="Group 26"/>
          <p:cNvGrpSpPr/>
          <p:nvPr>
            <p:custDataLst>
              <p:tags r:id="rId12"/>
            </p:custDataLst>
          </p:nvPr>
        </p:nvGrpSpPr>
        <p:grpSpPr>
          <a:xfrm rot="0">
            <a:off x="2188209" y="7482838"/>
            <a:ext cx="1376828" cy="1376828"/>
            <a:chOff x="0" y="0"/>
            <a:chExt cx="812800" cy="812800"/>
          </a:xfrm>
        </p:grpSpPr>
        <p:sp>
          <p:nvSpPr>
            <p:cNvPr id="1048722" name="Freeform 27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C2B6"/>
            </a:solidFill>
          </p:spPr>
        </p:sp>
        <p:sp>
          <p:nvSpPr>
            <p:cNvPr id="1048723" name="TextBox 2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48724" name="TextBox 29"/>
          <p:cNvSpPr txBox="1"/>
          <p:nvPr>
            <p:custDataLst>
              <p:tags r:id="rId14"/>
            </p:custDataLst>
          </p:nvPr>
        </p:nvSpPr>
        <p:spPr>
          <a:xfrm>
            <a:off x="11910293" y="5250652"/>
            <a:ext cx="4088915" cy="146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– Removed records with missing product names or prices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– Filled missing stock status as “Unknown”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725" name="TextBox 30"/>
          <p:cNvSpPr txBox="1"/>
          <p:nvPr>
            <p:custDataLst>
              <p:tags r:id="rId15"/>
            </p:custDataLst>
          </p:nvPr>
        </p:nvSpPr>
        <p:spPr>
          <a:xfrm>
            <a:off x="12022655" y="4445219"/>
            <a:ext cx="4285588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Handling Missing Values</a:t>
            </a:r>
            <a:endParaRPr lang="en-US" sz="280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grpSp>
        <p:nvGrpSpPr>
          <p:cNvPr id="67" name="Group 31"/>
          <p:cNvGrpSpPr/>
          <p:nvPr>
            <p:custDataLst>
              <p:tags r:id="rId16"/>
            </p:custDataLst>
          </p:nvPr>
        </p:nvGrpSpPr>
        <p:grpSpPr>
          <a:xfrm rot="0">
            <a:off x="9813029" y="4617326"/>
            <a:ext cx="1438101" cy="1438101"/>
            <a:chOff x="0" y="0"/>
            <a:chExt cx="812800" cy="812800"/>
          </a:xfrm>
        </p:grpSpPr>
        <p:sp>
          <p:nvSpPr>
            <p:cNvPr id="1048726" name="Freeform 32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C2B6"/>
            </a:solidFill>
          </p:spPr>
        </p:sp>
        <p:sp>
          <p:nvSpPr>
            <p:cNvPr id="1048727" name="TextBox 3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48728" name="TextBox 34"/>
          <p:cNvSpPr txBox="1"/>
          <p:nvPr>
            <p:custDataLst>
              <p:tags r:id="rId18"/>
            </p:custDataLst>
          </p:nvPr>
        </p:nvSpPr>
        <p:spPr>
          <a:xfrm>
            <a:off x="12219328" y="8085527"/>
            <a:ext cx="4088915" cy="1097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– Identified and removed duplicated product records to ensure data accuracy</a:t>
            </a:r>
            <a:endParaRPr lang="en-US" sz="17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729" name="TextBox 35"/>
          <p:cNvSpPr txBox="1"/>
          <p:nvPr>
            <p:custDataLst>
              <p:tags r:id="rId19"/>
            </p:custDataLst>
          </p:nvPr>
        </p:nvSpPr>
        <p:spPr>
          <a:xfrm>
            <a:off x="12219328" y="7281707"/>
            <a:ext cx="4088915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Duplicate Removal</a:t>
            </a:r>
            <a:endParaRPr lang="en-US" sz="280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grpSp>
        <p:nvGrpSpPr>
          <p:cNvPr id="68" name="Group 36"/>
          <p:cNvGrpSpPr/>
          <p:nvPr>
            <p:custDataLst>
              <p:tags r:id="rId20"/>
            </p:custDataLst>
          </p:nvPr>
        </p:nvGrpSpPr>
        <p:grpSpPr>
          <a:xfrm rot="0">
            <a:off x="9942445" y="7398698"/>
            <a:ext cx="1460968" cy="1460968"/>
            <a:chOff x="0" y="0"/>
            <a:chExt cx="812800" cy="812800"/>
          </a:xfrm>
        </p:grpSpPr>
        <p:sp>
          <p:nvSpPr>
            <p:cNvPr id="1048730" name="Freeform 37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B597"/>
            </a:solidFill>
          </p:spPr>
        </p:sp>
        <p:sp>
          <p:nvSpPr>
            <p:cNvPr id="1048731" name="TextBox 3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48732" name="TextBox 39"/>
          <p:cNvSpPr txBox="1"/>
          <p:nvPr/>
        </p:nvSpPr>
        <p:spPr>
          <a:xfrm>
            <a:off x="2245176" y="2199750"/>
            <a:ext cx="14371397" cy="144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just">
              <a:lnSpc>
                <a:spcPts val="4200"/>
              </a:lnSpc>
            </a:pPr>
            <a:r>
              <a:rPr lang="en-US" sz="2500" b="1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 Bold" panose="020B0800000000000000" charset="-122"/>
                <a:sym typeface="思源黑体 2 Bold" panose="020B0800000000000000" charset="-122"/>
              </a:rPr>
              <a:t>Purpose of Data Cleaning</a:t>
            </a:r>
            <a:endParaRPr lang="en-US" sz="2500" b="1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 Bold" panose="020B0800000000000000" charset="-122"/>
              <a:sym typeface="思源黑体 2 Bold" panose="020B0800000000000000" charset="-122"/>
            </a:endParaRPr>
          </a:p>
          <a:p>
            <a:pPr algn="just">
              <a:lnSpc>
                <a:spcPts val="3525"/>
              </a:lnSpc>
            </a:pPr>
            <a:r>
              <a:rPr lang="en-US" sz="2100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思源黑体 2" panose="020B0500000000000000" charset="-122"/>
                <a:sym typeface="思源黑体 2" panose="020B0500000000000000" charset="-122"/>
              </a:rPr>
              <a:t> Raw scraped data often contains inconsistencies, missing values, and formatting issues. Data cleaning is necessary to improve data quality and ensure accurate analysis results.</a:t>
            </a:r>
            <a:endParaRPr lang="en-US" sz="2100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733" name="TextBox 40"/>
          <p:cNvSpPr txBox="1"/>
          <p:nvPr/>
        </p:nvSpPr>
        <p:spPr>
          <a:xfrm>
            <a:off x="5917159" y="3730536"/>
            <a:ext cx="8050572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4680"/>
              </a:lnSpc>
            </a:pPr>
            <a:r>
              <a:rPr lang="en-US" sz="300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Data Cleaning and Formatting Performed</a:t>
            </a:r>
            <a:endParaRPr lang="en-US" sz="300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2"/>
          <p:cNvGrpSpPr/>
          <p:nvPr/>
        </p:nvGrpSpPr>
        <p:grpSpPr>
          <a:xfrm rot="0">
            <a:off x="-3730103" y="-2813278"/>
            <a:ext cx="9218727" cy="6768785"/>
            <a:chOff x="0" y="0"/>
            <a:chExt cx="12291637" cy="9025047"/>
          </a:xfrm>
        </p:grpSpPr>
        <p:sp>
          <p:nvSpPr>
            <p:cNvPr id="1048734" name="Freeform 3"/>
            <p:cNvSpPr/>
            <p:nvPr/>
          </p:nvSpPr>
          <p:spPr>
            <a:xfrm rot="9077007">
              <a:off x="1891864" y="2233752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6" y="0"/>
                  </a:lnTo>
                  <a:lnTo>
                    <a:pt x="10189646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35" name="Freeform 4"/>
            <p:cNvSpPr/>
            <p:nvPr/>
          </p:nvSpPr>
          <p:spPr>
            <a:xfrm rot="9077007">
              <a:off x="210127" y="3308289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5" y="0"/>
                  </a:lnTo>
                  <a:lnTo>
                    <a:pt x="10189645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36" name="Freeform 5"/>
            <p:cNvSpPr/>
            <p:nvPr/>
          </p:nvSpPr>
          <p:spPr>
            <a:xfrm rot="-10347187">
              <a:off x="4114981" y="5150856"/>
              <a:ext cx="1716978" cy="2698591"/>
            </a:xfrm>
            <a:custGeom>
              <a:avLst/>
              <a:gdLst/>
              <a:ahLst/>
              <a:cxnLst/>
              <a:rect l="l" t="t" r="r" b="b"/>
              <a:pathLst>
                <a:path w="1716978" h="2698591">
                  <a:moveTo>
                    <a:pt x="0" y="0"/>
                  </a:moveTo>
                  <a:lnTo>
                    <a:pt x="1716978" y="0"/>
                  </a:lnTo>
                  <a:lnTo>
                    <a:pt x="1716978" y="2698591"/>
                  </a:lnTo>
                  <a:lnTo>
                    <a:pt x="0" y="2698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37" name="Freeform 6"/>
            <p:cNvSpPr/>
            <p:nvPr/>
          </p:nvSpPr>
          <p:spPr>
            <a:xfrm rot="8389701">
              <a:off x="3133593" y="4006912"/>
              <a:ext cx="2848589" cy="4155996"/>
            </a:xfrm>
            <a:custGeom>
              <a:avLst/>
              <a:gdLst/>
              <a:ahLst/>
              <a:cxnLst/>
              <a:rect l="l" t="t" r="r" b="b"/>
              <a:pathLst>
                <a:path w="2848589" h="4155996">
                  <a:moveTo>
                    <a:pt x="0" y="0"/>
                  </a:moveTo>
                  <a:lnTo>
                    <a:pt x="2848589" y="0"/>
                  </a:lnTo>
                  <a:lnTo>
                    <a:pt x="2848589" y="4155996"/>
                  </a:lnTo>
                  <a:lnTo>
                    <a:pt x="0" y="4155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71" name="Group 7"/>
          <p:cNvGrpSpPr/>
          <p:nvPr/>
        </p:nvGrpSpPr>
        <p:grpSpPr>
          <a:xfrm rot="0">
            <a:off x="10879974" y="7367432"/>
            <a:ext cx="9284255" cy="7286803"/>
            <a:chOff x="0" y="0"/>
            <a:chExt cx="12379006" cy="9715737"/>
          </a:xfrm>
        </p:grpSpPr>
        <p:sp>
          <p:nvSpPr>
            <p:cNvPr id="1048738" name="Freeform 8"/>
            <p:cNvSpPr/>
            <p:nvPr/>
          </p:nvSpPr>
          <p:spPr>
            <a:xfrm rot="-2423874">
              <a:off x="4181928" y="2341989"/>
              <a:ext cx="8266968" cy="2825800"/>
            </a:xfrm>
            <a:custGeom>
              <a:avLst/>
              <a:gdLst/>
              <a:ahLst/>
              <a:cxnLst/>
              <a:rect l="l" t="t" r="r" b="b"/>
              <a:pathLst>
                <a:path w="8266968" h="2825800">
                  <a:moveTo>
                    <a:pt x="0" y="0"/>
                  </a:moveTo>
                  <a:lnTo>
                    <a:pt x="8266968" y="0"/>
                  </a:lnTo>
                  <a:lnTo>
                    <a:pt x="8266968" y="2825800"/>
                  </a:lnTo>
                  <a:lnTo>
                    <a:pt x="0" y="282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39" name="Freeform 9"/>
            <p:cNvSpPr/>
            <p:nvPr/>
          </p:nvSpPr>
          <p:spPr>
            <a:xfrm rot="-2052013">
              <a:off x="103199" y="3340988"/>
              <a:ext cx="10744424" cy="3672640"/>
            </a:xfrm>
            <a:custGeom>
              <a:avLst/>
              <a:gdLst/>
              <a:ahLst/>
              <a:cxnLst/>
              <a:rect l="l" t="t" r="r" b="b"/>
              <a:pathLst>
                <a:path w="10744424" h="3672640">
                  <a:moveTo>
                    <a:pt x="0" y="0"/>
                  </a:moveTo>
                  <a:lnTo>
                    <a:pt x="10744425" y="0"/>
                  </a:lnTo>
                  <a:lnTo>
                    <a:pt x="10744425" y="3672640"/>
                  </a:lnTo>
                  <a:lnTo>
                    <a:pt x="0" y="36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40" name="Freeform 10"/>
            <p:cNvSpPr/>
            <p:nvPr/>
          </p:nvSpPr>
          <p:spPr>
            <a:xfrm rot="-1980880">
              <a:off x="9122963" y="1425375"/>
              <a:ext cx="1356542" cy="2132089"/>
            </a:xfrm>
            <a:custGeom>
              <a:avLst/>
              <a:gdLst/>
              <a:ahLst/>
              <a:cxnLst/>
              <a:rect l="l" t="t" r="r" b="b"/>
              <a:pathLst>
                <a:path w="1356542" h="2132089">
                  <a:moveTo>
                    <a:pt x="0" y="0"/>
                  </a:moveTo>
                  <a:lnTo>
                    <a:pt x="1356541" y="0"/>
                  </a:lnTo>
                  <a:lnTo>
                    <a:pt x="1356541" y="2132089"/>
                  </a:lnTo>
                  <a:lnTo>
                    <a:pt x="0" y="213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41" name="Freeform 11"/>
            <p:cNvSpPr/>
            <p:nvPr/>
          </p:nvSpPr>
          <p:spPr>
            <a:xfrm rot="8376125">
              <a:off x="6402473" y="1842091"/>
              <a:ext cx="2622128" cy="3825597"/>
            </a:xfrm>
            <a:custGeom>
              <a:avLst/>
              <a:gdLst/>
              <a:ahLst/>
              <a:cxnLst/>
              <a:rect l="l" t="t" r="r" b="b"/>
              <a:pathLst>
                <a:path w="2622128" h="3825597">
                  <a:moveTo>
                    <a:pt x="0" y="0"/>
                  </a:moveTo>
                  <a:lnTo>
                    <a:pt x="2622128" y="0"/>
                  </a:lnTo>
                  <a:lnTo>
                    <a:pt x="2622128" y="3825597"/>
                  </a:lnTo>
                  <a:lnTo>
                    <a:pt x="0" y="3825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72" name="Group 12"/>
          <p:cNvGrpSpPr/>
          <p:nvPr/>
        </p:nvGrpSpPr>
        <p:grpSpPr>
          <a:xfrm rot="0">
            <a:off x="16616573" y="-1328850"/>
            <a:ext cx="3547656" cy="3608717"/>
            <a:chOff x="0" y="0"/>
            <a:chExt cx="4730208" cy="4811622"/>
          </a:xfrm>
        </p:grpSpPr>
        <p:sp>
          <p:nvSpPr>
            <p:cNvPr id="1048742" name="Freeform 13"/>
            <p:cNvSpPr/>
            <p:nvPr/>
          </p:nvSpPr>
          <p:spPr>
            <a:xfrm>
              <a:off x="0" y="0"/>
              <a:ext cx="4730208" cy="4345879"/>
            </a:xfrm>
            <a:custGeom>
              <a:avLst/>
              <a:gdLst/>
              <a:ahLst/>
              <a:cxnLst/>
              <a:rect l="l" t="t" r="r" b="b"/>
              <a:pathLst>
                <a:path w="4730208" h="4345879">
                  <a:moveTo>
                    <a:pt x="0" y="0"/>
                  </a:moveTo>
                  <a:lnTo>
                    <a:pt x="4730208" y="0"/>
                  </a:lnTo>
                  <a:lnTo>
                    <a:pt x="4730208" y="4345879"/>
                  </a:lnTo>
                  <a:lnTo>
                    <a:pt x="0" y="4345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743" name="Freeform 14"/>
            <p:cNvSpPr/>
            <p:nvPr/>
          </p:nvSpPr>
          <p:spPr>
            <a:xfrm>
              <a:off x="1145988" y="25495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73" name="Group 15"/>
          <p:cNvGrpSpPr/>
          <p:nvPr/>
        </p:nvGrpSpPr>
        <p:grpSpPr>
          <a:xfrm rot="0">
            <a:off x="-1487826" y="8289427"/>
            <a:ext cx="3240139" cy="3750106"/>
            <a:chOff x="0" y="0"/>
            <a:chExt cx="4320185" cy="5000142"/>
          </a:xfrm>
        </p:grpSpPr>
        <p:sp>
          <p:nvSpPr>
            <p:cNvPr id="1048744" name="Freeform 16"/>
            <p:cNvSpPr/>
            <p:nvPr/>
          </p:nvSpPr>
          <p:spPr>
            <a:xfrm>
              <a:off x="283928" y="1291831"/>
              <a:ext cx="4036257" cy="3708311"/>
            </a:xfrm>
            <a:custGeom>
              <a:avLst/>
              <a:gdLst/>
              <a:ahLst/>
              <a:cxnLst/>
              <a:rect l="l" t="t" r="r" b="b"/>
              <a:pathLst>
                <a:path w="4036257" h="3708311">
                  <a:moveTo>
                    <a:pt x="0" y="0"/>
                  </a:moveTo>
                  <a:lnTo>
                    <a:pt x="4036257" y="0"/>
                  </a:lnTo>
                  <a:lnTo>
                    <a:pt x="4036257" y="3708311"/>
                  </a:lnTo>
                  <a:lnTo>
                    <a:pt x="0" y="370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745" name="Freeform 17"/>
            <p:cNvSpPr/>
            <p:nvPr/>
          </p:nvSpPr>
          <p:spPr>
            <a:xfrm>
              <a:off x="0" y="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8" y="0"/>
                  </a:lnTo>
                  <a:lnTo>
                    <a:pt x="3355368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48748" name="TextBox 20"/>
          <p:cNvSpPr txBox="1"/>
          <p:nvPr/>
        </p:nvSpPr>
        <p:spPr>
          <a:xfrm>
            <a:off x="1599913" y="811530"/>
            <a:ext cx="8453655" cy="76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5995"/>
              </a:lnSpc>
            </a:pPr>
            <a:r>
              <a:rPr lang="en-US" sz="499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Before vs. After Cleaning</a:t>
            </a:r>
            <a:endParaRPr lang="en-US" sz="4995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048749" name="TextBox 21"/>
          <p:cNvSpPr txBox="1"/>
          <p:nvPr/>
        </p:nvSpPr>
        <p:spPr>
          <a:xfrm>
            <a:off x="1216660" y="2247900"/>
            <a:ext cx="7040880" cy="25482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Data Challenges (Before):</a:t>
            </a:r>
            <a:endParaRPr lang="en-US" sz="190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Mixed Formats:Prices and ratings contained symbols ($) and descriptive text ("4.5 out of 5").</a:t>
            </a:r>
            <a:endParaRPr lang="en-US" sz="190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Inconsistent Strings: Inventory levels were buried in phrases like "In stock (24)".</a:t>
            </a:r>
            <a:endParaRPr lang="en-US" sz="190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Noise: Presence of duplicates and products with missing critical values (NaN).</a:t>
            </a:r>
            <a:endParaRPr lang="en-US" sz="190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48750" name="TextBox 22"/>
          <p:cNvSpPr txBox="1"/>
          <p:nvPr/>
        </p:nvSpPr>
        <p:spPr>
          <a:xfrm>
            <a:off x="9372600" y="1798320"/>
            <a:ext cx="7855585" cy="28797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Cleaning Results (After):</a:t>
            </a:r>
            <a:endParaRPr lang="en-US" sz="190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1. Type Conversion: 100% of Price and Rating columns converted to float64 for calculation.</a:t>
            </a:r>
            <a:endParaRPr lang="en-US" sz="190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2. Regex Extraction: Extracted pure integers from inventory strings using pattern matching.</a:t>
            </a:r>
            <a:endParaRPr lang="en-US" sz="190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3. Standardization: Normalized Vendor names to ensure accurate brand-level grouping.</a:t>
            </a:r>
            <a:endParaRPr lang="en-US" sz="190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4. Integrity: Dropped invalid records, resulting in a high-quality dataset of 100+ items.</a:t>
            </a:r>
            <a:endParaRPr lang="en-US" sz="190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" name="图片 2" descr="屏幕截图 2026-01-16 2241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200" y="4838700"/>
            <a:ext cx="8933180" cy="5248275"/>
          </a:xfrm>
          <a:prstGeom prst="rect">
            <a:avLst/>
          </a:prstGeom>
        </p:spPr>
      </p:pic>
      <p:pic>
        <p:nvPicPr>
          <p:cNvPr id="2" name="图片 1" descr="屏幕截图 2026-01-16 2240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4914900"/>
            <a:ext cx="9169400" cy="4993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5"/>
          <p:cNvGrpSpPr/>
          <p:nvPr/>
        </p:nvGrpSpPr>
        <p:grpSpPr>
          <a:xfrm rot="0">
            <a:off x="-3730103" y="-2813278"/>
            <a:ext cx="9218727" cy="6768785"/>
            <a:chOff x="0" y="0"/>
            <a:chExt cx="12291637" cy="9025047"/>
          </a:xfrm>
        </p:grpSpPr>
        <p:sp>
          <p:nvSpPr>
            <p:cNvPr id="1048753" name="Freeform 6"/>
            <p:cNvSpPr/>
            <p:nvPr/>
          </p:nvSpPr>
          <p:spPr>
            <a:xfrm rot="9077007">
              <a:off x="1891864" y="2233752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6" y="0"/>
                  </a:lnTo>
                  <a:lnTo>
                    <a:pt x="10189646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54" name="Freeform 7"/>
            <p:cNvSpPr/>
            <p:nvPr/>
          </p:nvSpPr>
          <p:spPr>
            <a:xfrm rot="9077007">
              <a:off x="210127" y="3308289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5" y="0"/>
                  </a:lnTo>
                  <a:lnTo>
                    <a:pt x="10189645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55" name="Freeform 8"/>
            <p:cNvSpPr/>
            <p:nvPr/>
          </p:nvSpPr>
          <p:spPr>
            <a:xfrm rot="-10347187">
              <a:off x="4114981" y="5150856"/>
              <a:ext cx="1716978" cy="2698591"/>
            </a:xfrm>
            <a:custGeom>
              <a:avLst/>
              <a:gdLst/>
              <a:ahLst/>
              <a:cxnLst/>
              <a:rect l="l" t="t" r="r" b="b"/>
              <a:pathLst>
                <a:path w="1716978" h="2698591">
                  <a:moveTo>
                    <a:pt x="0" y="0"/>
                  </a:moveTo>
                  <a:lnTo>
                    <a:pt x="1716978" y="0"/>
                  </a:lnTo>
                  <a:lnTo>
                    <a:pt x="1716978" y="2698591"/>
                  </a:lnTo>
                  <a:lnTo>
                    <a:pt x="0" y="2698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56" name="Freeform 9"/>
            <p:cNvSpPr/>
            <p:nvPr/>
          </p:nvSpPr>
          <p:spPr>
            <a:xfrm rot="8389701">
              <a:off x="3133593" y="4006912"/>
              <a:ext cx="2848589" cy="4155996"/>
            </a:xfrm>
            <a:custGeom>
              <a:avLst/>
              <a:gdLst/>
              <a:ahLst/>
              <a:cxnLst/>
              <a:rect l="l" t="t" r="r" b="b"/>
              <a:pathLst>
                <a:path w="2848589" h="4155996">
                  <a:moveTo>
                    <a:pt x="0" y="0"/>
                  </a:moveTo>
                  <a:lnTo>
                    <a:pt x="2848589" y="0"/>
                  </a:lnTo>
                  <a:lnTo>
                    <a:pt x="2848589" y="4155996"/>
                  </a:lnTo>
                  <a:lnTo>
                    <a:pt x="0" y="4155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77" name="Group 10"/>
          <p:cNvGrpSpPr/>
          <p:nvPr/>
        </p:nvGrpSpPr>
        <p:grpSpPr>
          <a:xfrm rot="0">
            <a:off x="10879974" y="7367432"/>
            <a:ext cx="9284255" cy="7286803"/>
            <a:chOff x="0" y="0"/>
            <a:chExt cx="12379006" cy="9715737"/>
          </a:xfrm>
        </p:grpSpPr>
        <p:sp>
          <p:nvSpPr>
            <p:cNvPr id="1048757" name="Freeform 11"/>
            <p:cNvSpPr/>
            <p:nvPr/>
          </p:nvSpPr>
          <p:spPr>
            <a:xfrm rot="-2423874">
              <a:off x="4181928" y="2341989"/>
              <a:ext cx="8266968" cy="2825800"/>
            </a:xfrm>
            <a:custGeom>
              <a:avLst/>
              <a:gdLst/>
              <a:ahLst/>
              <a:cxnLst/>
              <a:rect l="l" t="t" r="r" b="b"/>
              <a:pathLst>
                <a:path w="8266968" h="2825800">
                  <a:moveTo>
                    <a:pt x="0" y="0"/>
                  </a:moveTo>
                  <a:lnTo>
                    <a:pt x="8266968" y="0"/>
                  </a:lnTo>
                  <a:lnTo>
                    <a:pt x="8266968" y="2825800"/>
                  </a:lnTo>
                  <a:lnTo>
                    <a:pt x="0" y="282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58" name="Freeform 12"/>
            <p:cNvSpPr/>
            <p:nvPr/>
          </p:nvSpPr>
          <p:spPr>
            <a:xfrm rot="-2052013">
              <a:off x="103199" y="3340988"/>
              <a:ext cx="10744424" cy="3672640"/>
            </a:xfrm>
            <a:custGeom>
              <a:avLst/>
              <a:gdLst/>
              <a:ahLst/>
              <a:cxnLst/>
              <a:rect l="l" t="t" r="r" b="b"/>
              <a:pathLst>
                <a:path w="10744424" h="3672640">
                  <a:moveTo>
                    <a:pt x="0" y="0"/>
                  </a:moveTo>
                  <a:lnTo>
                    <a:pt x="10744425" y="0"/>
                  </a:lnTo>
                  <a:lnTo>
                    <a:pt x="10744425" y="3672640"/>
                  </a:lnTo>
                  <a:lnTo>
                    <a:pt x="0" y="36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59" name="Freeform 13"/>
            <p:cNvSpPr/>
            <p:nvPr/>
          </p:nvSpPr>
          <p:spPr>
            <a:xfrm rot="-1980880">
              <a:off x="9122963" y="1425375"/>
              <a:ext cx="1356542" cy="2132089"/>
            </a:xfrm>
            <a:custGeom>
              <a:avLst/>
              <a:gdLst/>
              <a:ahLst/>
              <a:cxnLst/>
              <a:rect l="l" t="t" r="r" b="b"/>
              <a:pathLst>
                <a:path w="1356542" h="2132089">
                  <a:moveTo>
                    <a:pt x="0" y="0"/>
                  </a:moveTo>
                  <a:lnTo>
                    <a:pt x="1356541" y="0"/>
                  </a:lnTo>
                  <a:lnTo>
                    <a:pt x="1356541" y="2132089"/>
                  </a:lnTo>
                  <a:lnTo>
                    <a:pt x="0" y="213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60" name="Freeform 14"/>
            <p:cNvSpPr/>
            <p:nvPr/>
          </p:nvSpPr>
          <p:spPr>
            <a:xfrm rot="8376125">
              <a:off x="6402473" y="1842091"/>
              <a:ext cx="2622128" cy="3825597"/>
            </a:xfrm>
            <a:custGeom>
              <a:avLst/>
              <a:gdLst/>
              <a:ahLst/>
              <a:cxnLst/>
              <a:rect l="l" t="t" r="r" b="b"/>
              <a:pathLst>
                <a:path w="2622128" h="3825597">
                  <a:moveTo>
                    <a:pt x="0" y="0"/>
                  </a:moveTo>
                  <a:lnTo>
                    <a:pt x="2622128" y="0"/>
                  </a:lnTo>
                  <a:lnTo>
                    <a:pt x="2622128" y="3825597"/>
                  </a:lnTo>
                  <a:lnTo>
                    <a:pt x="0" y="3825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78" name="Group 15"/>
          <p:cNvGrpSpPr/>
          <p:nvPr/>
        </p:nvGrpSpPr>
        <p:grpSpPr>
          <a:xfrm rot="0">
            <a:off x="16616573" y="-1328850"/>
            <a:ext cx="3547656" cy="3608717"/>
            <a:chOff x="0" y="0"/>
            <a:chExt cx="4730208" cy="4811622"/>
          </a:xfrm>
        </p:grpSpPr>
        <p:sp>
          <p:nvSpPr>
            <p:cNvPr id="1048761" name="Freeform 16"/>
            <p:cNvSpPr/>
            <p:nvPr/>
          </p:nvSpPr>
          <p:spPr>
            <a:xfrm>
              <a:off x="0" y="0"/>
              <a:ext cx="4730208" cy="4345879"/>
            </a:xfrm>
            <a:custGeom>
              <a:avLst/>
              <a:gdLst/>
              <a:ahLst/>
              <a:cxnLst/>
              <a:rect l="l" t="t" r="r" b="b"/>
              <a:pathLst>
                <a:path w="4730208" h="4345879">
                  <a:moveTo>
                    <a:pt x="0" y="0"/>
                  </a:moveTo>
                  <a:lnTo>
                    <a:pt x="4730208" y="0"/>
                  </a:lnTo>
                  <a:lnTo>
                    <a:pt x="4730208" y="4345879"/>
                  </a:lnTo>
                  <a:lnTo>
                    <a:pt x="0" y="4345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762" name="Freeform 17"/>
            <p:cNvSpPr/>
            <p:nvPr/>
          </p:nvSpPr>
          <p:spPr>
            <a:xfrm>
              <a:off x="1145988" y="25495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79" name="Group 18"/>
          <p:cNvGrpSpPr/>
          <p:nvPr/>
        </p:nvGrpSpPr>
        <p:grpSpPr>
          <a:xfrm rot="0">
            <a:off x="-1487826" y="8289427"/>
            <a:ext cx="3240139" cy="3750106"/>
            <a:chOff x="0" y="0"/>
            <a:chExt cx="4320185" cy="5000142"/>
          </a:xfrm>
        </p:grpSpPr>
        <p:sp>
          <p:nvSpPr>
            <p:cNvPr id="1048763" name="Freeform 19"/>
            <p:cNvSpPr/>
            <p:nvPr/>
          </p:nvSpPr>
          <p:spPr>
            <a:xfrm>
              <a:off x="283928" y="1291831"/>
              <a:ext cx="4036257" cy="3708311"/>
            </a:xfrm>
            <a:custGeom>
              <a:avLst/>
              <a:gdLst/>
              <a:ahLst/>
              <a:cxnLst/>
              <a:rect l="l" t="t" r="r" b="b"/>
              <a:pathLst>
                <a:path w="4036257" h="3708311">
                  <a:moveTo>
                    <a:pt x="0" y="0"/>
                  </a:moveTo>
                  <a:lnTo>
                    <a:pt x="4036257" y="0"/>
                  </a:lnTo>
                  <a:lnTo>
                    <a:pt x="4036257" y="3708311"/>
                  </a:lnTo>
                  <a:lnTo>
                    <a:pt x="0" y="370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764" name="Freeform 20"/>
            <p:cNvSpPr/>
            <p:nvPr/>
          </p:nvSpPr>
          <p:spPr>
            <a:xfrm>
              <a:off x="0" y="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8" y="0"/>
                  </a:lnTo>
                  <a:lnTo>
                    <a:pt x="3355368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0" name="Group 21"/>
          <p:cNvGrpSpPr/>
          <p:nvPr/>
        </p:nvGrpSpPr>
        <p:grpSpPr>
          <a:xfrm rot="0">
            <a:off x="2285263" y="2621770"/>
            <a:ext cx="3709731" cy="3709731"/>
            <a:chOff x="0" y="0"/>
            <a:chExt cx="812800" cy="812800"/>
          </a:xfrm>
        </p:grpSpPr>
        <p:sp>
          <p:nvSpPr>
            <p:cNvPr id="1048765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48766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1" name="Group 24"/>
          <p:cNvGrpSpPr/>
          <p:nvPr/>
        </p:nvGrpSpPr>
        <p:grpSpPr>
          <a:xfrm rot="0">
            <a:off x="7289166" y="2621770"/>
            <a:ext cx="3709731" cy="3709731"/>
            <a:chOff x="0" y="0"/>
            <a:chExt cx="812800" cy="812800"/>
          </a:xfrm>
        </p:grpSpPr>
        <p:sp>
          <p:nvSpPr>
            <p:cNvPr id="1048767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48768" name="TextBox 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48769" name="Freeform 27"/>
          <p:cNvSpPr/>
          <p:nvPr/>
        </p:nvSpPr>
        <p:spPr>
          <a:xfrm>
            <a:off x="1676400" y="2907665"/>
            <a:ext cx="5192395" cy="4621530"/>
          </a:xfrm>
          <a:custGeom>
            <a:avLst/>
            <a:gdLst/>
            <a:ahLst/>
            <a:cxnLst/>
            <a:rect l="l" t="t" r="r" b="b"/>
            <a:pathLst>
              <a:path w="6886126" h="5575067">
                <a:moveTo>
                  <a:pt x="0" y="0"/>
                </a:moveTo>
                <a:lnTo>
                  <a:pt x="6886126" y="0"/>
                </a:lnTo>
                <a:lnTo>
                  <a:pt x="6886126" y="5575067"/>
                </a:lnTo>
                <a:lnTo>
                  <a:pt x="0" y="55750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48770" name="TextBox 28"/>
          <p:cNvSpPr txBox="1"/>
          <p:nvPr/>
        </p:nvSpPr>
        <p:spPr>
          <a:xfrm>
            <a:off x="1449546" y="805670"/>
            <a:ext cx="12987782" cy="76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5995"/>
              </a:lnSpc>
            </a:pPr>
            <a:r>
              <a:rPr lang="en-US" altLang="zh-CN" sz="499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Product Distribution Analysis</a:t>
            </a:r>
            <a:endParaRPr lang="en-US" altLang="zh-CN" sz="4995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048771" name="TextBox 29"/>
          <p:cNvSpPr txBox="1"/>
          <p:nvPr/>
        </p:nvSpPr>
        <p:spPr>
          <a:xfrm>
            <a:off x="770890" y="7379335"/>
            <a:ext cx="7222490" cy="2421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4720"/>
              </a:lnSpc>
              <a:spcBef>
                <a:spcPct val="0"/>
              </a:spcBef>
            </a:pPr>
            <a:r>
              <a:rPr lang="en-US" sz="281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The histogram shows that most products are concentrated in the mid-price range, indicating a competitive pricing market with a small number of high-priced items.</a:t>
            </a:r>
            <a:endParaRPr lang="en-US" sz="281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772" name="TextBox 30"/>
          <p:cNvSpPr txBox="1"/>
          <p:nvPr/>
        </p:nvSpPr>
        <p:spPr>
          <a:xfrm>
            <a:off x="2362241" y="1791005"/>
            <a:ext cx="4888586" cy="73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5790"/>
              </a:lnSpc>
              <a:spcBef>
                <a:spcPct val="0"/>
              </a:spcBef>
            </a:pPr>
            <a:r>
              <a:rPr lang="en-US" sz="371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Price Distribution</a:t>
            </a:r>
            <a:endParaRPr lang="en-US" sz="371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048773" name="TextBox 31"/>
          <p:cNvSpPr txBox="1"/>
          <p:nvPr/>
        </p:nvSpPr>
        <p:spPr>
          <a:xfrm>
            <a:off x="10744264" y="2857761"/>
            <a:ext cx="4472850" cy="301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l">
              <a:lnSpc>
                <a:spcPts val="4705"/>
              </a:lnSpc>
              <a:spcBef>
                <a:spcPct val="0"/>
              </a:spcBef>
            </a:pPr>
            <a:r>
              <a:rPr lang="en-US" altLang="zh-CN" sz="2800">
                <a:solidFill>
                  <a:srgbClr val="100F0D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The first chart shows the number of products offered by each vendor, highlighting vendor dominance in the store.</a:t>
            </a:r>
            <a:endParaRPr lang="en-US" altLang="zh-CN" sz="2800">
              <a:solidFill>
                <a:srgbClr val="100F0D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1048774" name="TextBox 32"/>
          <p:cNvSpPr txBox="1"/>
          <p:nvPr/>
        </p:nvSpPr>
        <p:spPr>
          <a:xfrm>
            <a:off x="10972864" y="1787195"/>
            <a:ext cx="4266501" cy="73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0" lvl="0" indent="0" algn="ctr">
              <a:lnSpc>
                <a:spcPts val="5770"/>
              </a:lnSpc>
              <a:spcBef>
                <a:spcPct val="0"/>
              </a:spcBef>
            </a:pPr>
            <a:r>
              <a:rPr lang="en-US" altLang="zh-CN" sz="370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Products by Vendor</a:t>
            </a:r>
            <a:endParaRPr lang="en-US" altLang="zh-CN" sz="3700" b="1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pic>
        <p:nvPicPr>
          <p:cNvPr id="1" name="图片 0" descr="屏幕截图 2026-01-17 1535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400" y="6057900"/>
            <a:ext cx="6102985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2"/>
          <p:cNvGrpSpPr/>
          <p:nvPr/>
        </p:nvGrpSpPr>
        <p:grpSpPr>
          <a:xfrm rot="0">
            <a:off x="-3730103" y="-2813278"/>
            <a:ext cx="9218727" cy="6768785"/>
            <a:chOff x="0" y="0"/>
            <a:chExt cx="12291637" cy="9025047"/>
          </a:xfrm>
        </p:grpSpPr>
        <p:sp>
          <p:nvSpPr>
            <p:cNvPr id="1048775" name="Freeform 3"/>
            <p:cNvSpPr/>
            <p:nvPr/>
          </p:nvSpPr>
          <p:spPr>
            <a:xfrm rot="9077007">
              <a:off x="1891864" y="2233752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6" y="0"/>
                  </a:lnTo>
                  <a:lnTo>
                    <a:pt x="10189646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76" name="Freeform 4"/>
            <p:cNvSpPr/>
            <p:nvPr/>
          </p:nvSpPr>
          <p:spPr>
            <a:xfrm rot="9077007">
              <a:off x="210127" y="3308289"/>
              <a:ext cx="10189646" cy="3483006"/>
            </a:xfrm>
            <a:custGeom>
              <a:avLst/>
              <a:gdLst/>
              <a:ahLst/>
              <a:cxnLst/>
              <a:rect l="l" t="t" r="r" b="b"/>
              <a:pathLst>
                <a:path w="10189646" h="3483006">
                  <a:moveTo>
                    <a:pt x="0" y="0"/>
                  </a:moveTo>
                  <a:lnTo>
                    <a:pt x="10189645" y="0"/>
                  </a:lnTo>
                  <a:lnTo>
                    <a:pt x="10189645" y="3483006"/>
                  </a:lnTo>
                  <a:lnTo>
                    <a:pt x="0" y="348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77" name="Freeform 5"/>
            <p:cNvSpPr/>
            <p:nvPr/>
          </p:nvSpPr>
          <p:spPr>
            <a:xfrm rot="-10347187">
              <a:off x="4114981" y="5150856"/>
              <a:ext cx="1716978" cy="2698591"/>
            </a:xfrm>
            <a:custGeom>
              <a:avLst/>
              <a:gdLst/>
              <a:ahLst/>
              <a:cxnLst/>
              <a:rect l="l" t="t" r="r" b="b"/>
              <a:pathLst>
                <a:path w="1716978" h="2698591">
                  <a:moveTo>
                    <a:pt x="0" y="0"/>
                  </a:moveTo>
                  <a:lnTo>
                    <a:pt x="1716978" y="0"/>
                  </a:lnTo>
                  <a:lnTo>
                    <a:pt x="1716978" y="2698591"/>
                  </a:lnTo>
                  <a:lnTo>
                    <a:pt x="0" y="2698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78" name="Freeform 6"/>
            <p:cNvSpPr/>
            <p:nvPr/>
          </p:nvSpPr>
          <p:spPr>
            <a:xfrm rot="8389701">
              <a:off x="3133593" y="4006912"/>
              <a:ext cx="2848589" cy="4155996"/>
            </a:xfrm>
            <a:custGeom>
              <a:avLst/>
              <a:gdLst/>
              <a:ahLst/>
              <a:cxnLst/>
              <a:rect l="l" t="t" r="r" b="b"/>
              <a:pathLst>
                <a:path w="2848589" h="4155996">
                  <a:moveTo>
                    <a:pt x="0" y="0"/>
                  </a:moveTo>
                  <a:lnTo>
                    <a:pt x="2848589" y="0"/>
                  </a:lnTo>
                  <a:lnTo>
                    <a:pt x="2848589" y="4155996"/>
                  </a:lnTo>
                  <a:lnTo>
                    <a:pt x="0" y="4155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48779" name="TextBox 7"/>
          <p:cNvSpPr txBox="1"/>
          <p:nvPr/>
        </p:nvSpPr>
        <p:spPr>
          <a:xfrm>
            <a:off x="1818988" y="800100"/>
            <a:ext cx="906098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5995"/>
              </a:lnSpc>
            </a:pPr>
            <a:r>
              <a:rPr lang="en-US" sz="499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Conclusion &amp; Deliverables</a:t>
            </a:r>
            <a:endParaRPr lang="en-US" sz="4995" b="1">
              <a:solidFill>
                <a:srgbClr val="1E1E1E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grpSp>
        <p:nvGrpSpPr>
          <p:cNvPr id="84" name="Group 8"/>
          <p:cNvGrpSpPr/>
          <p:nvPr/>
        </p:nvGrpSpPr>
        <p:grpSpPr>
          <a:xfrm rot="0">
            <a:off x="10879974" y="7367432"/>
            <a:ext cx="9284255" cy="7286803"/>
            <a:chOff x="0" y="0"/>
            <a:chExt cx="12379006" cy="9715737"/>
          </a:xfrm>
        </p:grpSpPr>
        <p:sp>
          <p:nvSpPr>
            <p:cNvPr id="1048780" name="Freeform 9"/>
            <p:cNvSpPr/>
            <p:nvPr/>
          </p:nvSpPr>
          <p:spPr>
            <a:xfrm rot="-2423874">
              <a:off x="4181928" y="2341989"/>
              <a:ext cx="8266968" cy="2825800"/>
            </a:xfrm>
            <a:custGeom>
              <a:avLst/>
              <a:gdLst/>
              <a:ahLst/>
              <a:cxnLst/>
              <a:rect l="l" t="t" r="r" b="b"/>
              <a:pathLst>
                <a:path w="8266968" h="2825800">
                  <a:moveTo>
                    <a:pt x="0" y="0"/>
                  </a:moveTo>
                  <a:lnTo>
                    <a:pt x="8266968" y="0"/>
                  </a:lnTo>
                  <a:lnTo>
                    <a:pt x="8266968" y="2825800"/>
                  </a:lnTo>
                  <a:lnTo>
                    <a:pt x="0" y="282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81" name="Freeform 10"/>
            <p:cNvSpPr/>
            <p:nvPr/>
          </p:nvSpPr>
          <p:spPr>
            <a:xfrm rot="-2052013">
              <a:off x="103199" y="3340988"/>
              <a:ext cx="10744424" cy="3672640"/>
            </a:xfrm>
            <a:custGeom>
              <a:avLst/>
              <a:gdLst/>
              <a:ahLst/>
              <a:cxnLst/>
              <a:rect l="l" t="t" r="r" b="b"/>
              <a:pathLst>
                <a:path w="10744424" h="3672640">
                  <a:moveTo>
                    <a:pt x="0" y="0"/>
                  </a:moveTo>
                  <a:lnTo>
                    <a:pt x="10744425" y="0"/>
                  </a:lnTo>
                  <a:lnTo>
                    <a:pt x="10744425" y="3672640"/>
                  </a:lnTo>
                  <a:lnTo>
                    <a:pt x="0" y="36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82" name="Freeform 11"/>
            <p:cNvSpPr/>
            <p:nvPr/>
          </p:nvSpPr>
          <p:spPr>
            <a:xfrm rot="-1980880">
              <a:off x="9122963" y="1425375"/>
              <a:ext cx="1356542" cy="2132089"/>
            </a:xfrm>
            <a:custGeom>
              <a:avLst/>
              <a:gdLst/>
              <a:ahLst/>
              <a:cxnLst/>
              <a:rect l="l" t="t" r="r" b="b"/>
              <a:pathLst>
                <a:path w="1356542" h="2132089">
                  <a:moveTo>
                    <a:pt x="0" y="0"/>
                  </a:moveTo>
                  <a:lnTo>
                    <a:pt x="1356541" y="0"/>
                  </a:lnTo>
                  <a:lnTo>
                    <a:pt x="1356541" y="2132089"/>
                  </a:lnTo>
                  <a:lnTo>
                    <a:pt x="0" y="213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83" name="Freeform 12"/>
            <p:cNvSpPr/>
            <p:nvPr/>
          </p:nvSpPr>
          <p:spPr>
            <a:xfrm rot="8376125">
              <a:off x="6402473" y="1842091"/>
              <a:ext cx="2622128" cy="3825597"/>
            </a:xfrm>
            <a:custGeom>
              <a:avLst/>
              <a:gdLst/>
              <a:ahLst/>
              <a:cxnLst/>
              <a:rect l="l" t="t" r="r" b="b"/>
              <a:pathLst>
                <a:path w="2622128" h="3825597">
                  <a:moveTo>
                    <a:pt x="0" y="0"/>
                  </a:moveTo>
                  <a:lnTo>
                    <a:pt x="2622128" y="0"/>
                  </a:lnTo>
                  <a:lnTo>
                    <a:pt x="2622128" y="3825597"/>
                  </a:lnTo>
                  <a:lnTo>
                    <a:pt x="0" y="3825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5" name="Group 13"/>
          <p:cNvGrpSpPr/>
          <p:nvPr/>
        </p:nvGrpSpPr>
        <p:grpSpPr>
          <a:xfrm rot="0">
            <a:off x="16616573" y="-1328850"/>
            <a:ext cx="3547656" cy="3608717"/>
            <a:chOff x="0" y="0"/>
            <a:chExt cx="4730208" cy="4811622"/>
          </a:xfrm>
        </p:grpSpPr>
        <p:sp>
          <p:nvSpPr>
            <p:cNvPr id="1048784" name="Freeform 14"/>
            <p:cNvSpPr/>
            <p:nvPr/>
          </p:nvSpPr>
          <p:spPr>
            <a:xfrm>
              <a:off x="0" y="0"/>
              <a:ext cx="4730208" cy="4345879"/>
            </a:xfrm>
            <a:custGeom>
              <a:avLst/>
              <a:gdLst/>
              <a:ahLst/>
              <a:cxnLst/>
              <a:rect l="l" t="t" r="r" b="b"/>
              <a:pathLst>
                <a:path w="4730208" h="4345879">
                  <a:moveTo>
                    <a:pt x="0" y="0"/>
                  </a:moveTo>
                  <a:lnTo>
                    <a:pt x="4730208" y="0"/>
                  </a:lnTo>
                  <a:lnTo>
                    <a:pt x="4730208" y="4345879"/>
                  </a:lnTo>
                  <a:lnTo>
                    <a:pt x="0" y="4345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785" name="Freeform 15"/>
            <p:cNvSpPr/>
            <p:nvPr/>
          </p:nvSpPr>
          <p:spPr>
            <a:xfrm>
              <a:off x="1145988" y="25495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6" name="Group 16"/>
          <p:cNvGrpSpPr/>
          <p:nvPr/>
        </p:nvGrpSpPr>
        <p:grpSpPr>
          <a:xfrm rot="0">
            <a:off x="-1487826" y="8289427"/>
            <a:ext cx="3240139" cy="3750106"/>
            <a:chOff x="0" y="0"/>
            <a:chExt cx="4320185" cy="5000142"/>
          </a:xfrm>
        </p:grpSpPr>
        <p:sp>
          <p:nvSpPr>
            <p:cNvPr id="1048786" name="Freeform 17"/>
            <p:cNvSpPr/>
            <p:nvPr/>
          </p:nvSpPr>
          <p:spPr>
            <a:xfrm>
              <a:off x="283928" y="1291831"/>
              <a:ext cx="4036257" cy="3708311"/>
            </a:xfrm>
            <a:custGeom>
              <a:avLst/>
              <a:gdLst/>
              <a:ahLst/>
              <a:cxnLst/>
              <a:rect l="l" t="t" r="r" b="b"/>
              <a:pathLst>
                <a:path w="4036257" h="3708311">
                  <a:moveTo>
                    <a:pt x="0" y="0"/>
                  </a:moveTo>
                  <a:lnTo>
                    <a:pt x="4036257" y="0"/>
                  </a:lnTo>
                  <a:lnTo>
                    <a:pt x="4036257" y="3708311"/>
                  </a:lnTo>
                  <a:lnTo>
                    <a:pt x="0" y="370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787" name="Freeform 18"/>
            <p:cNvSpPr/>
            <p:nvPr/>
          </p:nvSpPr>
          <p:spPr>
            <a:xfrm>
              <a:off x="0" y="0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8" y="0"/>
                  </a:lnTo>
                  <a:lnTo>
                    <a:pt x="3355368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48788" name="TextBox 19"/>
          <p:cNvSpPr txBox="1"/>
          <p:nvPr/>
        </p:nvSpPr>
        <p:spPr>
          <a:xfrm>
            <a:off x="1819275" y="2938145"/>
            <a:ext cx="13388340" cy="4817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l">
              <a:lnSpc>
                <a:spcPts val="3415"/>
              </a:lnSpc>
              <a:spcBef>
                <a:spcPct val="0"/>
              </a:spcBef>
            </a:pPr>
            <a:r>
              <a:rPr lang="en-US" altLang="zh-CN" sz="244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In conclusion, this project demonstrates how ETL principles can be applied to an online shopping website using real-world data.</a:t>
            </a:r>
            <a:endParaRPr lang="en-US" altLang="zh-CN" sz="244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415"/>
              </a:lnSpc>
              <a:spcBef>
                <a:spcPct val="0"/>
              </a:spcBef>
            </a:pPr>
            <a:endParaRPr lang="en-US" altLang="zh-CN" sz="244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415"/>
              </a:lnSpc>
              <a:spcBef>
                <a:spcPct val="0"/>
              </a:spcBef>
            </a:pPr>
            <a:r>
              <a:rPr lang="en-US" altLang="zh-CN" sz="244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Through web scraping, data cleaning, and data formatting, raw Shopify product data is transformed into structured and reliable data.</a:t>
            </a:r>
            <a:endParaRPr lang="en-US" altLang="zh-CN" sz="244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415"/>
              </a:lnSpc>
              <a:spcBef>
                <a:spcPct val="0"/>
              </a:spcBef>
            </a:pPr>
            <a:endParaRPr lang="en-US" altLang="zh-CN" sz="244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415"/>
              </a:lnSpc>
              <a:spcBef>
                <a:spcPct val="0"/>
              </a:spcBef>
            </a:pPr>
            <a:r>
              <a:rPr lang="en-US" altLang="zh-CN" sz="244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cleaned dataset enables meaningful data analysis and visualization, such as product distribution and price analysis.</a:t>
            </a:r>
            <a:endParaRPr lang="en-US" altLang="zh-CN" sz="244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415"/>
              </a:lnSpc>
              <a:spcBef>
                <a:spcPct val="0"/>
              </a:spcBef>
            </a:pPr>
            <a:endParaRPr lang="en-US" altLang="zh-CN" sz="244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415"/>
              </a:lnSpc>
              <a:spcBef>
                <a:spcPct val="0"/>
              </a:spcBef>
            </a:pPr>
            <a:r>
              <a:rPr lang="en-US" altLang="zh-CN" sz="2440">
                <a:solidFill>
                  <a:srgbClr val="1E1E1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Overall, this project highlights the importance of the Transform stage in ensuring data quality and supporting accurate insights.</a:t>
            </a:r>
            <a:endParaRPr lang="en-US" altLang="zh-CN" sz="2440">
              <a:solidFill>
                <a:srgbClr val="1E1E1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FFF"/>
        </a:solidFill>
        <a:effectLst/>
      </p:bgPr>
    </p:bg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2"/>
          <p:cNvGrpSpPr/>
          <p:nvPr/>
        </p:nvGrpSpPr>
        <p:grpSpPr>
          <a:xfrm rot="0">
            <a:off x="-9469791" y="-2421106"/>
            <a:ext cx="37898208" cy="15129212"/>
            <a:chOff x="0" y="0"/>
            <a:chExt cx="50530944" cy="20172282"/>
          </a:xfrm>
        </p:grpSpPr>
        <p:sp>
          <p:nvSpPr>
            <p:cNvPr id="1048789" name="Freeform 3"/>
            <p:cNvSpPr/>
            <p:nvPr/>
          </p:nvSpPr>
          <p:spPr>
            <a:xfrm rot="687305">
              <a:off x="4325582" y="11104530"/>
              <a:ext cx="20716172" cy="7081164"/>
            </a:xfrm>
            <a:custGeom>
              <a:avLst/>
              <a:gdLst/>
              <a:ahLst/>
              <a:cxnLst/>
              <a:rect l="l" t="t" r="r" b="b"/>
              <a:pathLst>
                <a:path w="20716172" h="7081164">
                  <a:moveTo>
                    <a:pt x="0" y="0"/>
                  </a:moveTo>
                  <a:lnTo>
                    <a:pt x="20716172" y="0"/>
                  </a:lnTo>
                  <a:lnTo>
                    <a:pt x="20716172" y="7081164"/>
                  </a:lnTo>
                  <a:lnTo>
                    <a:pt x="0" y="7081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90" name="Freeform 4"/>
            <p:cNvSpPr/>
            <p:nvPr/>
          </p:nvSpPr>
          <p:spPr>
            <a:xfrm rot="687305">
              <a:off x="496833" y="10901319"/>
              <a:ext cx="20716172" cy="7081164"/>
            </a:xfrm>
            <a:custGeom>
              <a:avLst/>
              <a:gdLst/>
              <a:ahLst/>
              <a:cxnLst/>
              <a:rect l="l" t="t" r="r" b="b"/>
              <a:pathLst>
                <a:path w="20716172" h="7081164">
                  <a:moveTo>
                    <a:pt x="0" y="0"/>
                  </a:moveTo>
                  <a:lnTo>
                    <a:pt x="20716172" y="0"/>
                  </a:lnTo>
                  <a:lnTo>
                    <a:pt x="20716172" y="7081165"/>
                  </a:lnTo>
                  <a:lnTo>
                    <a:pt x="0" y="7081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91" name="Freeform 5"/>
            <p:cNvSpPr/>
            <p:nvPr/>
          </p:nvSpPr>
          <p:spPr>
            <a:xfrm rot="-10800000">
              <a:off x="23247311" y="503327"/>
              <a:ext cx="17680386" cy="6043477"/>
            </a:xfrm>
            <a:custGeom>
              <a:avLst/>
              <a:gdLst/>
              <a:ahLst/>
              <a:cxnLst/>
              <a:rect l="l" t="t" r="r" b="b"/>
              <a:pathLst>
                <a:path w="17680386" h="6043477">
                  <a:moveTo>
                    <a:pt x="0" y="0"/>
                  </a:moveTo>
                  <a:lnTo>
                    <a:pt x="17680386" y="0"/>
                  </a:lnTo>
                  <a:lnTo>
                    <a:pt x="17680386" y="6043478"/>
                  </a:lnTo>
                  <a:lnTo>
                    <a:pt x="0" y="6043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23000"/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92" name="Freeform 6"/>
            <p:cNvSpPr/>
            <p:nvPr/>
          </p:nvSpPr>
          <p:spPr>
            <a:xfrm rot="-10428138">
              <a:off x="27195241" y="1217436"/>
              <a:ext cx="22978867" cy="7854595"/>
            </a:xfrm>
            <a:custGeom>
              <a:avLst/>
              <a:gdLst/>
              <a:ahLst/>
              <a:cxnLst/>
              <a:rect l="l" t="t" r="r" b="b"/>
              <a:pathLst>
                <a:path w="22978867" h="7854595">
                  <a:moveTo>
                    <a:pt x="0" y="0"/>
                  </a:moveTo>
                  <a:lnTo>
                    <a:pt x="22978867" y="0"/>
                  </a:lnTo>
                  <a:lnTo>
                    <a:pt x="22978867" y="7854595"/>
                  </a:lnTo>
                  <a:lnTo>
                    <a:pt x="0" y="7854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93" name="Freeform 7"/>
            <p:cNvSpPr/>
            <p:nvPr/>
          </p:nvSpPr>
          <p:spPr>
            <a:xfrm>
              <a:off x="11353780" y="9199482"/>
              <a:ext cx="3490722" cy="5486400"/>
            </a:xfrm>
            <a:custGeom>
              <a:avLst/>
              <a:gdLst/>
              <a:ahLst/>
              <a:cxnLst/>
              <a:rect l="l" t="t" r="r" b="b"/>
              <a:pathLst>
                <a:path w="3490722" h="5486400">
                  <a:moveTo>
                    <a:pt x="0" y="0"/>
                  </a:moveTo>
                  <a:lnTo>
                    <a:pt x="3490722" y="0"/>
                  </a:lnTo>
                  <a:lnTo>
                    <a:pt x="3490722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94" name="Freeform 8"/>
            <p:cNvSpPr/>
            <p:nvPr/>
          </p:nvSpPr>
          <p:spPr>
            <a:xfrm>
              <a:off x="34792326" y="5782395"/>
              <a:ext cx="2901206" cy="4559852"/>
            </a:xfrm>
            <a:custGeom>
              <a:avLst/>
              <a:gdLst/>
              <a:ahLst/>
              <a:cxnLst/>
              <a:rect l="l" t="t" r="r" b="b"/>
              <a:pathLst>
                <a:path w="2901206" h="4559852">
                  <a:moveTo>
                    <a:pt x="0" y="0"/>
                  </a:moveTo>
                  <a:lnTo>
                    <a:pt x="2901206" y="0"/>
                  </a:lnTo>
                  <a:lnTo>
                    <a:pt x="2901206" y="4559852"/>
                  </a:lnTo>
                  <a:lnTo>
                    <a:pt x="0" y="4559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48795" name="Freeform 9"/>
            <p:cNvSpPr/>
            <p:nvPr/>
          </p:nvSpPr>
          <p:spPr>
            <a:xfrm>
              <a:off x="11353780" y="8394615"/>
              <a:ext cx="5607888" cy="8181721"/>
            </a:xfrm>
            <a:custGeom>
              <a:avLst/>
              <a:gdLst/>
              <a:ahLst/>
              <a:cxnLst/>
              <a:rect l="l" t="t" r="r" b="b"/>
              <a:pathLst>
                <a:path w="5607888" h="8181721">
                  <a:moveTo>
                    <a:pt x="0" y="0"/>
                  </a:moveTo>
                  <a:lnTo>
                    <a:pt x="5607888" y="0"/>
                  </a:lnTo>
                  <a:lnTo>
                    <a:pt x="5607888" y="8181721"/>
                  </a:lnTo>
                  <a:lnTo>
                    <a:pt x="0" y="818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048796" name="Freeform 10"/>
            <p:cNvSpPr/>
            <p:nvPr/>
          </p:nvSpPr>
          <p:spPr>
            <a:xfrm>
              <a:off x="31670557" y="503327"/>
              <a:ext cx="5607888" cy="8181721"/>
            </a:xfrm>
            <a:custGeom>
              <a:avLst/>
              <a:gdLst/>
              <a:ahLst/>
              <a:cxnLst/>
              <a:rect l="l" t="t" r="r" b="b"/>
              <a:pathLst>
                <a:path w="5607888" h="8181721">
                  <a:moveTo>
                    <a:pt x="0" y="0"/>
                  </a:moveTo>
                  <a:lnTo>
                    <a:pt x="5607888" y="0"/>
                  </a:lnTo>
                  <a:lnTo>
                    <a:pt x="5607888" y="8181721"/>
                  </a:lnTo>
                  <a:lnTo>
                    <a:pt x="0" y="818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048797" name="Freeform 11"/>
            <p:cNvSpPr/>
            <p:nvPr/>
          </p:nvSpPr>
          <p:spPr>
            <a:xfrm>
              <a:off x="10501629" y="295995"/>
              <a:ext cx="5971592" cy="5486400"/>
            </a:xfrm>
            <a:custGeom>
              <a:avLst/>
              <a:gdLst/>
              <a:ahLst/>
              <a:cxnLst/>
              <a:rect l="l" t="t" r="r" b="b"/>
              <a:pathLst>
                <a:path w="5971592" h="5486400">
                  <a:moveTo>
                    <a:pt x="0" y="0"/>
                  </a:moveTo>
                  <a:lnTo>
                    <a:pt x="5971592" y="0"/>
                  </a:lnTo>
                  <a:lnTo>
                    <a:pt x="5971592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798" name="Freeform 12"/>
            <p:cNvSpPr/>
            <p:nvPr/>
          </p:nvSpPr>
          <p:spPr>
            <a:xfrm>
              <a:off x="13845832" y="1682219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2"/>
                  </a:lnTo>
                  <a:lnTo>
                    <a:pt x="0" y="4556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048799" name="Freeform 13"/>
            <p:cNvSpPr/>
            <p:nvPr/>
          </p:nvSpPr>
          <p:spPr>
            <a:xfrm>
              <a:off x="32286724" y="14685882"/>
              <a:ext cx="5971592" cy="5486400"/>
            </a:xfrm>
            <a:custGeom>
              <a:avLst/>
              <a:gdLst/>
              <a:ahLst/>
              <a:cxnLst/>
              <a:rect l="l" t="t" r="r" b="b"/>
              <a:pathLst>
                <a:path w="5971592" h="5486400">
                  <a:moveTo>
                    <a:pt x="0" y="0"/>
                  </a:moveTo>
                  <a:lnTo>
                    <a:pt x="5971591" y="0"/>
                  </a:lnTo>
                  <a:lnTo>
                    <a:pt x="5971591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48800" name="Freeform 14"/>
            <p:cNvSpPr/>
            <p:nvPr/>
          </p:nvSpPr>
          <p:spPr>
            <a:xfrm rot="3934014">
              <a:off x="34565246" y="13638561"/>
              <a:ext cx="3355368" cy="4556672"/>
            </a:xfrm>
            <a:custGeom>
              <a:avLst/>
              <a:gdLst/>
              <a:ahLst/>
              <a:cxnLst/>
              <a:rect l="l" t="t" r="r" b="b"/>
              <a:pathLst>
                <a:path w="3355368" h="4556672">
                  <a:moveTo>
                    <a:pt x="0" y="0"/>
                  </a:moveTo>
                  <a:lnTo>
                    <a:pt x="3355367" y="0"/>
                  </a:lnTo>
                  <a:lnTo>
                    <a:pt x="3355367" y="4556671"/>
                  </a:lnTo>
                  <a:lnTo>
                    <a:pt x="0" y="4556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9" name="Group 15"/>
          <p:cNvGrpSpPr/>
          <p:nvPr/>
        </p:nvGrpSpPr>
        <p:grpSpPr>
          <a:xfrm rot="0">
            <a:off x="7599568" y="6706882"/>
            <a:ext cx="3088863" cy="2052164"/>
            <a:chOff x="0" y="0"/>
            <a:chExt cx="813528" cy="540488"/>
          </a:xfrm>
        </p:grpSpPr>
        <p:sp>
          <p:nvSpPr>
            <p:cNvPr id="1048801" name="Freeform 16"/>
            <p:cNvSpPr/>
            <p:nvPr/>
          </p:nvSpPr>
          <p:spPr>
            <a:xfrm>
              <a:off x="0" y="0"/>
              <a:ext cx="813528" cy="540488"/>
            </a:xfrm>
            <a:custGeom>
              <a:avLst/>
              <a:gdLst/>
              <a:ahLst/>
              <a:cxnLst/>
              <a:rect l="l" t="t" r="r" b="b"/>
              <a:pathLst>
                <a:path w="813528" h="540488">
                  <a:moveTo>
                    <a:pt x="250640" y="0"/>
                  </a:moveTo>
                  <a:lnTo>
                    <a:pt x="562888" y="0"/>
                  </a:lnTo>
                  <a:cubicBezTo>
                    <a:pt x="701313" y="0"/>
                    <a:pt x="813528" y="112215"/>
                    <a:pt x="813528" y="250640"/>
                  </a:cubicBezTo>
                  <a:lnTo>
                    <a:pt x="813528" y="289848"/>
                  </a:lnTo>
                  <a:cubicBezTo>
                    <a:pt x="813528" y="356322"/>
                    <a:pt x="787121" y="420073"/>
                    <a:pt x="740117" y="467077"/>
                  </a:cubicBezTo>
                  <a:cubicBezTo>
                    <a:pt x="693113" y="514081"/>
                    <a:pt x="629362" y="540488"/>
                    <a:pt x="562888" y="540488"/>
                  </a:cubicBezTo>
                  <a:lnTo>
                    <a:pt x="250640" y="540488"/>
                  </a:lnTo>
                  <a:cubicBezTo>
                    <a:pt x="184166" y="540488"/>
                    <a:pt x="120415" y="514081"/>
                    <a:pt x="73411" y="467077"/>
                  </a:cubicBezTo>
                  <a:cubicBezTo>
                    <a:pt x="26407" y="420073"/>
                    <a:pt x="0" y="356322"/>
                    <a:pt x="0" y="289848"/>
                  </a:cubicBezTo>
                  <a:lnTo>
                    <a:pt x="0" y="250640"/>
                  </a:lnTo>
                  <a:cubicBezTo>
                    <a:pt x="0" y="184166"/>
                    <a:pt x="26407" y="120415"/>
                    <a:pt x="73411" y="73411"/>
                  </a:cubicBezTo>
                  <a:cubicBezTo>
                    <a:pt x="120415" y="26407"/>
                    <a:pt x="184166" y="0"/>
                    <a:pt x="250640" y="0"/>
                  </a:cubicBezTo>
                  <a:close/>
                </a:path>
              </a:pathLst>
            </a:custGeom>
            <a:solidFill>
              <a:srgbClr val="96C2B6"/>
            </a:solidFill>
            <a:ln cap="rnd">
              <a:noFill/>
              <a:prstDash val="solid"/>
              <a:round/>
            </a:ln>
          </p:spPr>
        </p:sp>
        <p:sp>
          <p:nvSpPr>
            <p:cNvPr id="1048802" name="TextBox 17"/>
            <p:cNvSpPr txBox="1"/>
            <p:nvPr/>
          </p:nvSpPr>
          <p:spPr>
            <a:xfrm>
              <a:off x="0" y="-28575"/>
              <a:ext cx="813528" cy="569063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48803" name="TextBox 18"/>
          <p:cNvSpPr txBox="1"/>
          <p:nvPr/>
        </p:nvSpPr>
        <p:spPr>
          <a:xfrm>
            <a:off x="2202537" y="3062406"/>
            <a:ext cx="14127943" cy="1890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14885"/>
              </a:lnSpc>
            </a:pPr>
            <a:r>
              <a:rPr lang="en-US" sz="9860" b="1">
                <a:solidFill>
                  <a:srgbClr val="96C2B6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Th</a:t>
            </a:r>
            <a:r>
              <a:rPr lang="en-US" sz="9860" b="1">
                <a:solidFill>
                  <a:srgbClr val="96C2B6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ank you for watching</a:t>
            </a:r>
            <a:endParaRPr lang="en-US" sz="9860" b="1">
              <a:solidFill>
                <a:srgbClr val="96C2B6"/>
              </a:solidFill>
              <a:latin typeface="Akzidenz-Grotesk Medium" panose="02000603030000020004"/>
              <a:ea typeface="Akzidenz-Grotesk Medium" panose="02000603030000020004"/>
              <a:cs typeface="Akzidenz-Grotesk Medium" panose="02000603030000020004"/>
              <a:sym typeface="Akzidenz-Grotesk Medium" panose="02000603030000020004"/>
            </a:endParaRPr>
          </a:p>
        </p:txBody>
      </p:sp>
      <p:sp>
        <p:nvSpPr>
          <p:cNvPr id="1048804" name="TextBox 19"/>
          <p:cNvSpPr txBox="1"/>
          <p:nvPr/>
        </p:nvSpPr>
        <p:spPr>
          <a:xfrm>
            <a:off x="7965693" y="6873865"/>
            <a:ext cx="2356614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2720"/>
              </a:lnSpc>
            </a:pPr>
            <a:r>
              <a:rPr lang="en-US" sz="2265" b="1">
                <a:solidFill>
                  <a:srgbClr val="FFFFFF"/>
                </a:solidFill>
                <a:latin typeface="思源黑体 2 Medium" panose="020B0600000000000000" charset="-122"/>
                <a:ea typeface="思源黑体 2 Medium" panose="020B0600000000000000" charset="-122"/>
                <a:cs typeface="思源黑体 2 Medium" panose="020B0600000000000000" charset="-122"/>
                <a:sym typeface="思源黑体 2 Medium" panose="020B0600000000000000" charset="-122"/>
              </a:rPr>
              <a:t>group member</a:t>
            </a:r>
            <a:endParaRPr lang="en-US" sz="2265" b="1">
              <a:solidFill>
                <a:srgbClr val="FFFFFF"/>
              </a:solidFill>
              <a:latin typeface="思源黑体 2 Medium" panose="020B0600000000000000" charset="-122"/>
              <a:ea typeface="思源黑体 2 Medium" panose="020B0600000000000000" charset="-122"/>
              <a:cs typeface="思源黑体 2 Medium" panose="020B0600000000000000" charset="-122"/>
              <a:sym typeface="思源黑体 2 Medium" panose="020B0600000000000000" charset="-122"/>
            </a:endParaRPr>
          </a:p>
          <a:p>
            <a:pPr algn="ctr">
              <a:lnSpc>
                <a:spcPts val="2720"/>
              </a:lnSpc>
            </a:pPr>
            <a:r>
              <a:rPr lang="en-US" sz="2265" b="1">
                <a:solidFill>
                  <a:srgbClr val="FFFFFF"/>
                </a:solidFill>
                <a:latin typeface="思源黑体 2 Medium" panose="020B0600000000000000" charset="-122"/>
                <a:ea typeface="思源黑体 2 Medium" panose="020B0600000000000000" charset="-122"/>
                <a:cs typeface="思源黑体 2 Medium" panose="020B0600000000000000" charset="-122"/>
                <a:sym typeface="思源黑体 2 Medium" panose="020B0600000000000000" charset="-122"/>
              </a:rPr>
              <a:t>YANG HANGYU</a:t>
            </a:r>
            <a:endParaRPr lang="en-US" sz="2265" b="1">
              <a:solidFill>
                <a:srgbClr val="FFFFFF"/>
              </a:solidFill>
              <a:latin typeface="思源黑体 2 Medium" panose="020B0600000000000000" charset="-122"/>
              <a:ea typeface="思源黑体 2 Medium" panose="020B0600000000000000" charset="-122"/>
              <a:cs typeface="思源黑体 2 Medium" panose="020B0600000000000000" charset="-122"/>
              <a:sym typeface="思源黑体 2 Medium" panose="020B0600000000000000" charset="-122"/>
            </a:endParaRPr>
          </a:p>
          <a:p>
            <a:pPr algn="ctr">
              <a:lnSpc>
                <a:spcPts val="2720"/>
              </a:lnSpc>
            </a:pPr>
            <a:r>
              <a:rPr lang="en-US" sz="2265" b="1">
                <a:solidFill>
                  <a:srgbClr val="FFFFFF"/>
                </a:solidFill>
                <a:latin typeface="思源黑体 2 Medium" panose="020B0600000000000000" charset="-122"/>
                <a:ea typeface="思源黑体 2 Medium" panose="020B0600000000000000" charset="-122"/>
                <a:cs typeface="思源黑体 2 Medium" panose="020B0600000000000000" charset="-122"/>
                <a:sym typeface="思源黑体 2 Medium" panose="020B0600000000000000" charset="-122"/>
              </a:rPr>
              <a:t>A204179</a:t>
            </a:r>
            <a:endParaRPr lang="en-US" sz="2265" b="1">
              <a:solidFill>
                <a:srgbClr val="FFFFFF"/>
              </a:solidFill>
              <a:latin typeface="思源黑体 2 Medium" panose="020B0600000000000000" charset="-122"/>
              <a:ea typeface="思源黑体 2 Medium" panose="020B0600000000000000" charset="-122"/>
              <a:cs typeface="思源黑体 2 Medium" panose="020B0600000000000000" charset="-122"/>
              <a:sym typeface="思源黑体 2 Medium" panose="020B0600000000000000" charset="-122"/>
            </a:endParaRPr>
          </a:p>
          <a:p>
            <a:pPr algn="ctr">
              <a:lnSpc>
                <a:spcPts val="2720"/>
              </a:lnSpc>
            </a:pPr>
            <a:r>
              <a:rPr lang="en-US" sz="2265" b="1">
                <a:solidFill>
                  <a:srgbClr val="FFFFFF"/>
                </a:solidFill>
                <a:latin typeface="思源黑体 2 Medium" panose="020B0600000000000000" charset="-122"/>
                <a:ea typeface="思源黑体 2 Medium" panose="020B0600000000000000" charset="-122"/>
                <a:cs typeface="思源黑体 2 Medium" panose="020B0600000000000000" charset="-122"/>
                <a:sym typeface="思源黑体 2 Medium" panose="020B0600000000000000" charset="-122"/>
              </a:rPr>
              <a:t>YU YIFAN</a:t>
            </a:r>
            <a:endParaRPr lang="en-US" sz="2265" b="1">
              <a:solidFill>
                <a:srgbClr val="FFFFFF"/>
              </a:solidFill>
              <a:latin typeface="思源黑体 2 Medium" panose="020B0600000000000000" charset="-122"/>
              <a:ea typeface="思源黑体 2 Medium" panose="020B0600000000000000" charset="-122"/>
              <a:cs typeface="思源黑体 2 Medium" panose="020B0600000000000000" charset="-122"/>
              <a:sym typeface="思源黑体 2 Medium" panose="020B0600000000000000" charset="-122"/>
            </a:endParaRPr>
          </a:p>
          <a:p>
            <a:pPr algn="ctr">
              <a:lnSpc>
                <a:spcPts val="2720"/>
              </a:lnSpc>
            </a:pPr>
            <a:r>
              <a:rPr lang="en-US" sz="2265" b="1">
                <a:solidFill>
                  <a:srgbClr val="FFFFFF"/>
                </a:solidFill>
                <a:latin typeface="思源黑体 2 Medium" panose="020B0600000000000000" charset="-122"/>
                <a:ea typeface="思源黑体 2 Medium" panose="020B0600000000000000" charset="-122"/>
                <a:cs typeface="思源黑体 2 Medium" panose="020B0600000000000000" charset="-122"/>
                <a:sym typeface="思源黑体 2 Medium" panose="020B0600000000000000" charset="-122"/>
              </a:rPr>
              <a:t>A191702</a:t>
            </a:r>
            <a:endParaRPr lang="en-US" sz="2265" b="1">
              <a:solidFill>
                <a:srgbClr val="FFFFFF"/>
              </a:solidFill>
              <a:latin typeface="思源黑体 2 Medium" panose="020B0600000000000000" charset="-122"/>
              <a:ea typeface="思源黑体 2 Medium" panose="020B0600000000000000" charset="-122"/>
              <a:cs typeface="思源黑体 2 Medium" panose="020B0600000000000000" charset="-122"/>
              <a:sym typeface="思源黑体 2 Medium" panose="020B0600000000000000" charset="-122"/>
            </a:endParaRPr>
          </a:p>
          <a:p>
            <a:pPr marL="0" lvl="0" indent="0" algn="ctr">
              <a:lnSpc>
                <a:spcPts val="2720"/>
              </a:lnSpc>
              <a:spcBef>
                <a:spcPct val="0"/>
              </a:spcBef>
            </a:pPr>
          </a:p>
        </p:txBody>
      </p:sp>
      <p:sp>
        <p:nvSpPr>
          <p:cNvPr id="1048805" name="TextBox 20"/>
          <p:cNvSpPr txBox="1"/>
          <p:nvPr/>
        </p:nvSpPr>
        <p:spPr>
          <a:xfrm>
            <a:off x="5038456" y="5431463"/>
            <a:ext cx="8456105" cy="702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5530"/>
              </a:lnSpc>
            </a:pPr>
            <a:r>
              <a:rPr lang="en-US" sz="3545" b="1" spc="1087">
                <a:solidFill>
                  <a:srgbClr val="262626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GROUP 8</a:t>
            </a:r>
            <a:endParaRPr lang="en-US" sz="3545" b="1" spc="1087">
              <a:solidFill>
                <a:srgbClr val="262626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048806" name="TextBox 21"/>
          <p:cNvSpPr txBox="1"/>
          <p:nvPr/>
        </p:nvSpPr>
        <p:spPr>
          <a:xfrm>
            <a:off x="5528831" y="2131538"/>
            <a:ext cx="7475355" cy="980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7715"/>
              </a:lnSpc>
              <a:spcBef>
                <a:spcPct val="0"/>
              </a:spcBef>
            </a:pPr>
            <a:r>
              <a:rPr lang="en-US" sz="4945" b="1">
                <a:solidFill>
                  <a:srgbClr val="000000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TTTC3213 Group Project</a:t>
            </a:r>
            <a:endParaRPr lang="en-US" sz="4945" b="1">
              <a:solidFill>
                <a:srgbClr val="000000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2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3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4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5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6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7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8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9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10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11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12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13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14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15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ags/tag16.xml><?xml version="1.0" encoding="utf-8"?>
<p:tagLst xmlns:p="http://schemas.openxmlformats.org/presentationml/2006/main">
  <p:tag name="KSO_WM_DIAGRAM_VIRTUALLY_FRAME" val="{&quot;height&quot;:374.3742519685039,&quot;left&quot;:172.2999212598425,&quot;top&quot;:350.0172440944882,&quot;width&quot;:1111.813700787401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4754</Words>
  <Application>WPS 演示</Application>
  <PresentationFormat/>
  <Paragraphs>147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9" baseType="lpstr">
      <vt:lpstr>Arial</vt:lpstr>
      <vt:lpstr>宋体</vt:lpstr>
      <vt:lpstr>Wingdings</vt:lpstr>
      <vt:lpstr>思源黑体 1 Heavy</vt:lpstr>
      <vt:lpstr>黑体</vt:lpstr>
      <vt:lpstr>Akzidenz-Grotesk Medium</vt:lpstr>
      <vt:lpstr>思源黑体 2 Medium</vt:lpstr>
      <vt:lpstr>思源黑体 2 Bold</vt:lpstr>
      <vt:lpstr>思源黑体 1 Bold</vt:lpstr>
      <vt:lpstr>思源黑体 2</vt:lpstr>
      <vt:lpstr>Roboto</vt:lpstr>
      <vt:lpstr>Roboto Bold</vt:lpstr>
      <vt:lpstr>Arial</vt:lpstr>
      <vt:lpstr>Segoe Print</vt:lpstr>
      <vt:lpstr>Calibri</vt:lpstr>
      <vt:lpstr>微软雅黑</vt:lpstr>
      <vt:lpstr>Arial Unicode MS</vt:lpstr>
      <vt:lpstr>Akzidenz-Grotesk Medium</vt:lpstr>
      <vt:lpstr>Roboto</vt:lpstr>
      <vt:lpstr>Roboto Bold</vt:lpstr>
      <vt:lpstr>思源黑体 1 Bold</vt:lpstr>
      <vt:lpstr>思源黑体 1 Heavy</vt:lpstr>
      <vt:lpstr>思源黑体 2</vt:lpstr>
      <vt:lpstr>思源黑体 2 Bold</vt:lpstr>
      <vt:lpstr>思源黑体 2 Medium</vt:lpstr>
      <vt:lpstr>方正大黑体_GBK</vt:lpstr>
      <vt:lpstr>Times NR MT Pro Medium</vt:lpstr>
      <vt:lpstr>方正宝黑体 简 Medium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黄绿色简约风大学生课堂汇报演示文稿</dc:title>
  <dc:creator>HBN-AL00</dc:creator>
  <cp:lastModifiedBy>WPS_1665736927</cp:lastModifiedBy>
  <cp:revision>5</cp:revision>
  <dcterms:created xsi:type="dcterms:W3CDTF">2026-01-16T14:31:00Z</dcterms:created>
  <dcterms:modified xsi:type="dcterms:W3CDTF">2026-01-17T07:49:42Z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{"Label":"1","ContentProducer":"001191110105MA01AN806X00000","ProduceID":"DAG9t0s3lwA","ReservedCode1":"","ContentPropagator":"001191110105MA01AN806X00000","PropagateID":"DAG9t0s3lwA","ReservedCode2":""}</vt:lpwstr>
  </property>
  <property fmtid="{D5CDD505-2E9C-101B-9397-08002B2CF9AE}" pid="3" name="ICV">
    <vt:lpwstr>1df2673c8f57423ea2582423e5d23703_23</vt:lpwstr>
  </property>
  <property fmtid="{D5CDD505-2E9C-101B-9397-08002B2CF9AE}" pid="4" name="KSOProductBuildVer">
    <vt:lpwstr>2052-12.1.0.24657</vt:lpwstr>
  </property>
</Properties>
</file>